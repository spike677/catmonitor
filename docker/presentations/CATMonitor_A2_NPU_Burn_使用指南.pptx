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5f091736c64f53" /><Relationship Type="http://schemas.openxmlformats.org/officeDocument/2006/relationships/extended-properties" Target="/docProps/app.xml" Id="R8147c79d9d94441b" /><Relationship Type="http://schemas.openxmlformats.org/officeDocument/2006/relationships/officeDocument" Target="/ppt/presentation.xml" Id="Rc97788330af9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994dc7b7b4174"/>
  </p:sldMasterIdLst>
  <p:notesMasterIdLst>
    <p:notesMasterId xmlns:r="http://schemas.openxmlformats.org/officeDocument/2006/relationships" r:id="R2b72f5d0e8eb419c"/>
  </p:notesMasterIdLst>
  <p:sldIdLst>
    <p:sldId xmlns:r="http://schemas.openxmlformats.org/officeDocument/2006/relationships" id="256" r:id="R89698ffc1ca44bbf"/>
    <p:sldId xmlns:r="http://schemas.openxmlformats.org/officeDocument/2006/relationships" id="257" r:id="R6712f5f7c74a4958"/>
    <p:sldId xmlns:r="http://schemas.openxmlformats.org/officeDocument/2006/relationships" id="258" r:id="R5504f471cfc94c32"/>
    <p:sldId xmlns:r="http://schemas.openxmlformats.org/officeDocument/2006/relationships" id="259" r:id="Rd9c3806fd2704b12"/>
    <p:sldId xmlns:r="http://schemas.openxmlformats.org/officeDocument/2006/relationships" id="260" r:id="Rbce7932b286b4033"/>
    <p:sldId xmlns:r="http://schemas.openxmlformats.org/officeDocument/2006/relationships" id="261" r:id="R8ac8ce2f50654bc1"/>
    <p:sldId xmlns:r="http://schemas.openxmlformats.org/officeDocument/2006/relationships" id="262" r:id="Ra67ac82b901b4f17"/>
    <p:sldId xmlns:r="http://schemas.openxmlformats.org/officeDocument/2006/relationships" id="263" r:id="R0df780b522ad4252"/>
    <p:sldId xmlns:r="http://schemas.openxmlformats.org/officeDocument/2006/relationships" id="264" r:id="Rb9a3b9acfde5429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a5644086ba4e21" /><Relationship Type="http://schemas.openxmlformats.org/officeDocument/2006/relationships/slideMaster" Target="/ppt/slideMasters/slideMaster1.xml" Id="R4e9994dc7b7b4174" /><Relationship Type="http://schemas.openxmlformats.org/officeDocument/2006/relationships/notesMaster" Target="/ppt/notesMasters/notesMaster1.xml" Id="R2b72f5d0e8eb419c" /><Relationship Type="http://schemas.openxmlformats.org/officeDocument/2006/relationships/presProps" Target="/ppt/presProps.xml" Id="R1b7f23270d0d4607" /><Relationship Type="http://schemas.openxmlformats.org/officeDocument/2006/relationships/tableStyles" Target="/ppt/tableStyles.xml" Id="R53fa3169c8954c3c" /><Relationship Type="http://schemas.openxmlformats.org/officeDocument/2006/relationships/slide" Target="/ppt/slides/slide1.xml" Id="R89698ffc1ca44bbf" /><Relationship Type="http://schemas.openxmlformats.org/officeDocument/2006/relationships/slide" Target="/ppt/slides/slide2.xml" Id="R6712f5f7c74a4958" /><Relationship Type="http://schemas.openxmlformats.org/officeDocument/2006/relationships/slide" Target="/ppt/slides/slide3.xml" Id="R5504f471cfc94c32" /><Relationship Type="http://schemas.openxmlformats.org/officeDocument/2006/relationships/slide" Target="/ppt/slides/slide4.xml" Id="Rd9c3806fd2704b12" /><Relationship Type="http://schemas.openxmlformats.org/officeDocument/2006/relationships/slide" Target="/ppt/slides/slide5.xml" Id="Rbce7932b286b4033" /><Relationship Type="http://schemas.openxmlformats.org/officeDocument/2006/relationships/slide" Target="/ppt/slides/slide6.xml" Id="R8ac8ce2f50654bc1" /><Relationship Type="http://schemas.openxmlformats.org/officeDocument/2006/relationships/slide" Target="/ppt/slides/slide7.xml" Id="Ra67ac82b901b4f17" /><Relationship Type="http://schemas.openxmlformats.org/officeDocument/2006/relationships/slide" Target="/ppt/slides/slide8.xml" Id="R0df780b522ad4252" /><Relationship Type="http://schemas.openxmlformats.org/officeDocument/2006/relationships/slide" Target="/ppt/slides/slide9.xml" Id="Rb9a3b9acfde542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bffc678714d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9e1cbbbcb141c2" /><Relationship Type="http://schemas.openxmlformats.org/officeDocument/2006/relationships/notesMaster" Target="/ppt/notesMasters/notesMaster1.xml" Id="R283a291c9e7b46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607051ff8a40c4" /><Relationship Type="http://schemas.openxmlformats.org/officeDocument/2006/relationships/notesMaster" Target="/ppt/notesMasters/notesMaster1.xml" Id="R2e79e0fc48b6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8c10f35ad4cd3" /><Relationship Type="http://schemas.openxmlformats.org/officeDocument/2006/relationships/notesMaster" Target="/ppt/notesMasters/notesMaster1.xml" Id="Rb57c67d9b08d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a762ad25604136" /><Relationship Type="http://schemas.openxmlformats.org/officeDocument/2006/relationships/notesMaster" Target="/ppt/notesMasters/notesMaster1.xml" Id="R2d0c7a2b31fe47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554ada072461c" /><Relationship Type="http://schemas.openxmlformats.org/officeDocument/2006/relationships/notesMaster" Target="/ppt/notesMasters/notesMaster1.xml" Id="R06815de1d4a14a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a284e307643ab" /><Relationship Type="http://schemas.openxmlformats.org/officeDocument/2006/relationships/notesMaster" Target="/ppt/notesMasters/notesMaster1.xml" Id="R68db6f224b8b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fd97e24e724717" /><Relationship Type="http://schemas.openxmlformats.org/officeDocument/2006/relationships/notesMaster" Target="/ppt/notesMasters/notesMaster1.xml" Id="Re2a5a9bb31ce4d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6f3e058b804de6" /><Relationship Type="http://schemas.openxmlformats.org/officeDocument/2006/relationships/notesMaster" Target="/ppt/notesMasters/notesMaster1.xml" Id="R1bc2843b9dab49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2524e56a944967" /><Relationship Type="http://schemas.openxmlformats.org/officeDocument/2006/relationships/notesMaster" Target="/ppt/notesMasters/notesMaster1.xml" Id="R9936c542d7d9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公开源码依据：https://github.com/spike677/CATMonitor/tree/5a3537cfc0cd1420c5e63bb4991e72c832781eca</a:t>
            </a:r>
          </a:p>
          <a:p xmlns:a="http://schemas.openxmlformats.org/drawingml/2006/main">
            <a:r>
              <a:t>相关文件：scripts/stress/generate_stress_deployment.sh，docker/docker-compose.yml，docker/docker-compose.npu.yml，docker/docker-compose.stress.yml，features/stress/static/stress.js，features/stress/workloadplugin/npu_model_linux.go，docker/stress/npu/model_sdc.py。</a:t>
            </a:r>
          </a:p>
          <a:p xmlns:a="http://schemas.openxmlformats.org/drawingml/2006/main">
            <a:r>
              <a:t>内容核对日期：2026-10-14。以下为 A2 ARM64 候选版使用说明，不代表 A3 配套或官方软件栈认证。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使用范围：</a:t>
            </a:r>
          </a:p>
          <a:p xmlns:a="http://schemas.openxmlformats.org/drawingml/2006/main">
            <a:r>
              <a:t>1. 算子支持列表以当前镜像实际准入检查为准，不把 selectable=true 称为所有参数均经硬件认证。</a:t>
            </a:r>
          </a:p>
          <a:p xmlns:a="http://schemas.openxmlformats.org/drawingml/2006/main">
            <a:r>
              <a:t>2. dtype 不支持时明确失败，不自动替换精度。</a:t>
            </a:r>
          </a:p>
          <a:p xmlns:a="http://schemas.openxmlformats.org/drawingml/2006/main">
            <a:r>
              <a:t>3. run_count 属于配置文件中的运行计数，不能将 CSV 行数解释成 run_count。</a:t>
            </a:r>
          </a:p>
          <a:p xmlns:a="http://schemas.openxmlformats.org/drawingml/2006/main">
            <a:r>
              <a:t>4. 模型在 case_catalog 中 selectable=false 表示不属于算子选择，不足以推断参考缺失。模型单独走 model_capabilities 和模型预检。</a:t>
            </a:r>
          </a:p>
          <a:p xmlns:a="http://schemas.openxmlformats.org/drawingml/2006/main">
            <a:r>
              <a:t>5. 当前保守的 NPU 空闲门禁检查整机业务进程。忙时拒绝启动 NPU workload，不妨碍获取源码、pull 镜像或生成配置。不要为了验收杀业务。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公开源码依据：https://github.com/spike677/CATMonitor/tree/5a3537cfc0cd1420c5e63bb4991e72c832781eca</a:t>
            </a:r>
          </a:p>
          <a:p xmlns:a="http://schemas.openxmlformats.org/drawingml/2006/main">
            <a:r>
              <a:t>相关文件：scripts/stress/generate_stress_deployment.sh，docker/docker-compose.yml，docker/docker-compose.npu.yml，docker/docker-compose.stress.yml，features/stress/static/stress.js，features/stress/workloadplugin/npu_model_linux.go，docker/stress/npu/model_sdc.py。</a:t>
            </a:r>
          </a:p>
          <a:p xmlns:a="http://schemas.openxmlformats.org/drawingml/2006/main">
            <a:r>
              <a:t>内容核对日期：2026-10-14。以下为 A2 ARM64 候选版使用说明，不代表 A3 配套或官方软件栈认证。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【下载命令，Bash 同一会话执行】</a:t>
            </a:r>
          </a:p>
          <a:p xmlns:a="http://schemas.openxmlformats.org/drawingml/2006/main">
            <a:r>
              <a:t>git clone -b codex/npu-model-a3-migration https://github.com/spike677/CATMonitor.git</a:t>
            </a:r>
          </a:p>
          <a:p xmlns:a="http://schemas.openxmlformats.org/drawingml/2006/main">
            <a:r>
              <a:t>cd CATMonitor</a:t>
            </a:r>
          </a:p>
          <a:p xmlns:a="http://schemas.openxmlformats.org/drawingml/2006/main">
            <a:r>
              <a:t>git checkout --detach 5a3537cfc0cd1420c5e63bb4991e72c832781eca</a:t>
            </a:r>
          </a:p>
          <a:p xmlns:a="http://schemas.openxmlformats.org/drawingml/2006/main">
            <a:r>
              <a:t>git status --short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R=ghcr.io/spike677</a:t>
            </a:r>
          </a:p>
          <a:p xmlns:a="http://schemas.openxmlformats.org/drawingml/2006/main">
            <a:r>
              <a:t>T=arm64-v0.3.6-a2-5a3537cfc0cd</a:t>
            </a:r>
          </a:p>
          <a:p xmlns:a="http://schemas.openxmlformats.org/drawingml/2006/main">
            <a:r>
              <a:t>CT=arm64-candidate-5a3537c-20261014</a:t>
            </a:r>
          </a:p>
          <a:p xmlns:a="http://schemas.openxmlformats.org/drawingml/2006/main">
            <a:r>
              <a:t>CONTROL="$R/catmonitor-npu:$T"</a:t>
            </a:r>
          </a:p>
          <a:p xmlns:a="http://schemas.openxmlformats.org/drawingml/2006/main">
            <a:r>
              <a:t>CPU="$R/catmonitor-stress-cpu:$CT"</a:t>
            </a:r>
          </a:p>
          <a:p xmlns:a="http://schemas.openxmlformats.org/drawingml/2006/main">
            <a:r>
              <a:t>NPU="$R/catmonitor-stress-npu:$T"</a:t>
            </a:r>
          </a:p>
          <a:p xmlns:a="http://schemas.openxmlformats.org/drawingml/2006/main">
            <a:r>
              <a:t>docker pull "$CONTROL"</a:t>
            </a:r>
          </a:p>
          <a:p xmlns:a="http://schemas.openxmlformats.org/drawingml/2006/main">
            <a:r>
              <a:t>docker pull "$CPU"</a:t>
            </a:r>
          </a:p>
          <a:p xmlns:a="http://schemas.openxmlformats.org/drawingml/2006/main">
            <a:r>
              <a:t>docker pull "$NPU"</a:t>
            </a:r>
          </a:p>
          <a:p xmlns:a="http://schemas.openxmlformats.org/drawingml/2006/main">
            <a:r>
              <a:t>docker image inspect "$CONTROL" "$CPU" "$NPU" --format '{{.RepoTags}} {{.Os}}/{{.Architecture}} {{.Id}}'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预期 Image ID：</a:t>
            </a:r>
          </a:p>
          <a:p xmlns:a="http://schemas.openxmlformats.org/drawingml/2006/main">
            <a:r>
              <a:t>Control sha256:65ea0e1a39b191300f5c1af7c3ebafbc36c33b6a74fc8f393c7c764f0679bb33</a:t>
            </a:r>
          </a:p>
          <a:p xmlns:a="http://schemas.openxmlformats.org/drawingml/2006/main">
            <a:r>
              <a:t>CPU sha256:b3e5748d1e8b6451b057574d032d8cce6cfb794e2ff86cf125c3efd55c803b03</a:t>
            </a:r>
          </a:p>
          <a:p xmlns:a="http://schemas.openxmlformats.org/drawingml/2006/main">
            <a:r>
              <a:t>NPU sha256:441578d7c49c3773a86a0625b6a1f99fd517668ffb905d822bc462dbfd799735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 Registry digest：</a:t>
            </a:r>
          </a:p>
          <a:p xmlns:a="http://schemas.openxmlformats.org/drawingml/2006/main">
            <a:r>
              <a:t>Control ghcr.io/spike677/catmonitor-npu@sha256:e12c566bb953c1fcfb532a26c5c3001afef95520117a04247990a726dd8c3982</a:t>
            </a:r>
          </a:p>
          <a:p xmlns:a="http://schemas.openxmlformats.org/drawingml/2006/main">
            <a:r>
              <a:t>CPU ghcr.io/spike677/catmonitor-stress-cpu@sha256:9b80439eab43b502a6db7bb8bc6183405e858f7dbf943f7db1dc7b5b3412844c</a:t>
            </a:r>
          </a:p>
          <a:p xmlns:a="http://schemas.openxmlformats.org/drawingml/2006/main">
            <a:r>
              <a:t>NPU ghcr.io/spike677/catmonitor-stress-npu@sha256:f63e6072de5abf5e2113da9c1ff72165eeef2985fff6366145c6f56a9479417b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来源：当前个人 GHCR 对应 tag 的 manifest/config 检查记录，Control/CPU 与本地 .delivery/CANDIDATE_IMAGES_20261014.md 身份交叉核对。镜像大小为压缩层合计近似下载量，已有缓存时更少。分支名带 a3-migration，不代表本页 NPU 镜像面向 A3。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离线节点：在有网络的获准机器执行 docker save -o catmonitor-a2-images.tar "$CONTROL" "$CPU" "$NPU"，传入目标节点后 docker load -i catmonitor-a2-images.tar，再 inspect 核对身份。tar 不放 Git。无需挂宿主 Python site-packages，不对运行容器临时 pip install。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公开源码依据：https://github.com/spike677/CATMonitor/tree/5a3537cfc0cd1420c5e63bb4991e72c832781eca</a:t>
            </a:r>
          </a:p>
          <a:p xmlns:a="http://schemas.openxmlformats.org/drawingml/2006/main">
            <a:r>
              <a:t>相关文件：scripts/stress/generate_stress_deployment.sh，docker/docker-compose.yml，docker/docker-compose.npu.yml，docker/docker-compose.stress.yml，features/stress/static/stress.js，features/stress/workloadplugin/npu_model_linux.go，docker/stress/npu/model_sdc.py。</a:t>
            </a:r>
          </a:p>
          <a:p xmlns:a="http://schemas.openxmlformats.org/drawingml/2006/main">
            <a:r>
              <a:t>内容核对日期：2026-10-14。以下为 A2 ARM64 候选版使用说明，不代表 A3 配套或官方软件栈认证。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【安全边界】</a:t>
            </a:r>
          </a:p>
          <a:p xmlns:a="http://schemas.openxmlformats.org/drawingml/2006/main">
            <a:r>
              <a:t>以下是新部署示例，以 root 或具备 Docker 权限的管理员身份执行。先盘点同名 workload 容器和 19320/19322/19323/9333 端口。项目名隔离不会隔离 host network 端口，也不会覆盖 workload 的固定 container_name。发现冲突就停止并制定维护窗口，不能 docker rm -f 或 docker compose down 其他业务。不要对整台机器 docker prune。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宿主检查：</a:t>
            </a:r>
          </a:p>
          <a:p xmlns:a="http://schemas.openxmlformats.org/drawingml/2006/main">
            <a:r>
              <a:t>uname -m</a:t>
            </a:r>
          </a:p>
          <a:p xmlns:a="http://schemas.openxmlformats.org/drawingml/2006/main">
            <a:r>
              <a:t>docker version</a:t>
            </a:r>
          </a:p>
          <a:p xmlns:a="http://schemas.openxmlformats.org/drawingml/2006/main">
            <a:r>
              <a:t>docker compose version</a:t>
            </a:r>
          </a:p>
          <a:p xmlns:a="http://schemas.openxmlformats.org/drawingml/2006/main">
            <a:r>
              <a:t>npu-smi info</a:t>
            </a:r>
          </a:p>
          <a:p xmlns:a="http://schemas.openxmlformats.org/drawingml/2006/main">
            <a:r>
              <a:t>ls -l /dev/davinci[0-9]*</a:t>
            </a:r>
          </a:p>
          <a:p xmlns:a="http://schemas.openxmlformats.org/drawingml/2006/main">
            <a:r>
              <a:t>docker ps -a --format 'table {{.Names}}\t{{.Image}}\t{{.Status}}'</a:t>
            </a:r>
          </a:p>
          <a:p xmlns:a="http://schemas.openxmlformats.org/drawingml/2006/main">
            <a:r>
              <a:t>ss -lntp</a:t>
            </a:r>
          </a:p>
          <a:p xmlns:a="http://schemas.openxmlformats.org/drawingml/2006/main">
            <a:r>
              <a:t>docker info --format '{{.DockerRootDir}}'</a:t>
            </a:r>
          </a:p>
          <a:p xmlns:a="http://schemas.openxmlformats.org/drawingml/2006/main">
            <a:r>
              <a:t>df -h / /home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确认 compose 中宿主绑定路径确实存在，特别是 driver/lib64、driver/version.info、/etc/ascend_install.info、/usr/local/dcmi、npu-smi，以及监控 overlay 的 hccn_tool/nnae/ascend-toolkit。节点路径不同先用获准的本地 override 修正，不能把不存在的文件路径自动创建成目录。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【完整生成命令】</a:t>
            </a:r>
          </a:p>
          <a:p xmlns:a="http://schemas.openxmlformats.org/drawingml/2006/main">
            <a:r>
              <a:t>G=/etc/catmonitor/a2-stress</a:t>
            </a:r>
          </a:p>
          <a:p xmlns:a="http://schemas.openxmlformats.org/drawingml/2006/main">
            <a:r>
              <a:t>OUT=/var/lib/catmonitor/npu-output</a:t>
            </a:r>
          </a:p>
          <a:p xmlns:a="http://schemas.openxmlformats.org/drawingml/2006/main">
            <a:r>
              <a:t>install -d -m 0750 "$G" "$OUT" /var/lib/catmonitor/stress</a:t>
            </a:r>
          </a:p>
          <a:p xmlns:a="http://schemas.openxmlformats.org/drawingml/2006/main">
            <a:r>
              <a:t>bash scripts/stress/generate_stress_deployment.sh \</a:t>
            </a:r>
          </a:p>
          <a:p xmlns:a="http://schemas.openxmlformats.org/drawingml/2006/main">
            <a:r>
              <a:t>  --output-dir "$G" --control-image "$CONTROL" \</a:t>
            </a:r>
          </a:p>
          <a:p xmlns:a="http://schemas.openxmlformats.org/drawingml/2006/main">
            <a:r>
              <a:t>  --cpu-image "$CPU" --npu-image "$NPU" \</a:t>
            </a:r>
          </a:p>
          <a:p xmlns:a="http://schemas.openxmlformats.org/drawingml/2006/main">
            <a:r>
              <a:t>  --stream-threads 1 \</a:t>
            </a:r>
          </a:p>
          <a:p xmlns:a="http://schemas.openxmlformats.org/drawingml/2006/main">
            <a:r>
              <a:t>  --hpl-profile small --hpl-processes 1 --hpl-threads 1 \</a:t>
            </a:r>
          </a:p>
          <a:p xmlns:a="http://schemas.openxmlformats.org/drawingml/2006/main">
            <a:r>
              <a:t>  --hpcg-processes 1 --hpcg-threads 1 \</a:t>
            </a:r>
          </a:p>
          <a:p xmlns:a="http://schemas.openxmlformats.org/drawingml/2006/main">
            <a:r>
              <a:t>  --hpcg-nx 32 --hpcg-ny 32 --hpcg-nz 32 --hpcg-runtime 60 \</a:t>
            </a:r>
          </a:p>
          <a:p xmlns:a="http://schemas.openxmlformats.org/drawingml/2006/main">
            <a:r>
              <a:t>  --npu-chip-generation A2 --npu-runtime runc \</a:t>
            </a:r>
          </a:p>
          <a:p xmlns:a="http://schemas.openxmlformats.org/drawingml/2006/main">
            <a:r>
              <a:t>  --npu-device-mode full --npu-security-profile legacy-privileged \</a:t>
            </a:r>
          </a:p>
          <a:p xmlns:a="http://schemas.openxmlformats.org/drawingml/2006/main">
            <a:r>
              <a:t>  --npu-burn-device 0 --npu-allowed-devices 0,1 \</a:t>
            </a:r>
          </a:p>
          <a:p xmlns:a="http://schemas.openxmlformats.org/drawingml/2006/main">
            <a:r>
              <a:t>  --npu-run-case matmul --npu-threads 1 \</a:t>
            </a:r>
          </a:p>
          <a:p xmlns:a="http://schemas.openxmlformats.org/drawingml/2006/main">
            <a:r>
              <a:t>  --npu-output-dir "$OUT" \</a:t>
            </a:r>
          </a:p>
          <a:p xmlns:a="http://schemas.openxmlformats.org/drawingml/2006/main">
            <a:r>
              <a:t>  --npu-ascend-env-script /usr/local/Ascend/cann-8.5.1/set_env.sh \</a:t>
            </a:r>
          </a:p>
          <a:p xmlns:a="http://schemas.openxmlformats.org/drawingml/2006/main">
            <a:r>
              <a:t>  --npu-allowed-models gpt3,llama2 \</a:t>
            </a:r>
          </a:p>
          <a:p xmlns:a="http://schemas.openxmlformats.org/drawingml/2006/main">
            <a:r>
              <a:t>  --allow-npu-reference-generation \</a:t>
            </a:r>
          </a:p>
          <a:p xmlns:a="http://schemas.openxmlformats.org/drawingml/2006/main">
            <a:r>
              <a:t>  --npu-model-memory-mode checkpointed \</a:t>
            </a:r>
          </a:p>
          <a:p xmlns:a="http://schemas.openxmlformats.org/drawingml/2006/main">
            <a:r>
              <a:t>  --enable-web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export CATMONITOR_IMAGE="$CONTROL"</a:t>
            </a:r>
          </a:p>
          <a:p xmlns:a="http://schemas.openxmlformats.org/drawingml/2006/main">
            <a:r>
              <a:t>export CATMONITOR_WEB_ADDR=:19322</a:t>
            </a:r>
          </a:p>
          <a:p xmlns:a="http://schemas.openxmlformats.org/drawingml/2006/main">
            <a:r>
              <a:t>dc() {</a:t>
            </a:r>
          </a:p>
          <a:p xmlns:a="http://schemas.openxmlformats.org/drawingml/2006/main">
            <a:r>
              <a:t>  docker compose -p catmonitor-a2 \</a:t>
            </a:r>
          </a:p>
          <a:p xmlns:a="http://schemas.openxmlformats.org/drawingml/2006/main">
            <a:r>
              <a:t>    -f docker/docker-compose.yml \</a:t>
            </a:r>
          </a:p>
          <a:p xmlns:a="http://schemas.openxmlformats.org/drawingml/2006/main">
            <a:r>
              <a:t>    -f docker/docker-compose.npu.yml \</a:t>
            </a:r>
          </a:p>
          <a:p xmlns:a="http://schemas.openxmlformats.org/drawingml/2006/main">
            <a:r>
              <a:t>    -f docker/docker-compose.stress.yml \</a:t>
            </a:r>
          </a:p>
          <a:p xmlns:a="http://schemas.openxmlformats.org/drawingml/2006/main">
            <a:r>
              <a:t>    -f "$G/docker-compose.stress.generated.yml" \</a:t>
            </a:r>
          </a:p>
          <a:p xmlns:a="http://schemas.openxmlformats.org/drawingml/2006/main">
            <a:r>
              <a:t>    --profile stress-cpu --profile stress-npu "$@"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dc config --services</a:t>
            </a:r>
          </a:p>
          <a:p xmlns:a="http://schemas.openxmlformats.org/drawingml/2006/main">
            <a:r>
              <a:t>dc config</a:t>
            </a:r>
          </a:p>
          <a:p xmlns:a="http://schemas.openxmlformats.org/drawingml/2006/main">
            <a:r>
              <a:t>dc up -d</a:t>
            </a:r>
          </a:p>
          <a:p xmlns:a="http://schemas.openxmlformats.org/drawingml/2006/main">
            <a:r>
              <a:t>dc ps</a:t>
            </a:r>
          </a:p>
          <a:p xmlns:a="http://schemas.openxmlformats.org/drawingml/2006/main">
            <a:r>
              <a:t>dc exec -T catmonitor catmonitor stress doctor -c /etc/catmonitor/catmonitor.yaml -o table</a:t>
            </a:r>
          </a:p>
          <a:p xmlns:a="http://schemas.openxmlformats.org/drawingml/2006/main">
            <a:r>
              <a:t>curl -fsS http://127.0.0.1:19320/-/ready</a:t>
            </a:r>
          </a:p>
          <a:p xmlns:a="http://schemas.openxmlformats.org/drawingml/2006/main">
            <a:r>
              <a:t>curl -fsS http://127.0.0.1:19322/api/stress/config</a:t>
            </a:r>
          </a:p>
          <a:p xmlns:a="http://schemas.openxmlformats.org/drawingml/2006/main">
            <a:r>
              <a:t>curl -fsS -o /dev/null http://127.0.0.1:19323/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这组参数保留 full 模式已有 A2 runc 权限契约。legacy-privileged 为高权限，应由管理员审核，不能作为预检失败后的随意升级手段。Web/DFeE 不挂 Docker socket，只有 daemon/controller 挂载。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预检目标：CPU stream/hpl/hpcg 三项、NPU 一项均可用。若有业务占用 NPU，应等待空闲窗口，不把 busy 误判成安装失败。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生成器发现宿主节点但不替管理员认证任意节点的 logical/物理映射。124 的宿主节点 2、5 对应运行时可选 0、1 是既有实测示例，不能当跨平台永久映射。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数据：snapshot/data/csv 使用项目命名卷；Stress history 在 /var/lib/catmonitor/stress；NPU CSV 持久化到 OUT；模型参考存于 workload state 的 model-references。不要删除这些卷作为日常更新步骤。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公开源码依据：https://github.com/spike677/CATMonitor/tree/5a3537cfc0cd1420c5e63bb4991e72c832781eca</a:t>
            </a:r>
          </a:p>
          <a:p xmlns:a="http://schemas.openxmlformats.org/drawingml/2006/main">
            <a:r>
              <a:t>相关文件：scripts/stress/generate_stress_deployment.sh，docker/docker-compose.yml，docker/docker-compose.npu.yml，docker/docker-compose.stress.yml，features/stress/static/stress.js，features/stress/workloadplugin/npu_model_linux.go，docker/stress/npu/model_sdc.py。</a:t>
            </a:r>
          </a:p>
          <a:p xmlns:a="http://schemas.openxmlformats.org/drawingml/2006/main">
            <a:r>
              <a:t>内容核对日期：2026-10-14。以下为 A2 ARM64 候选版使用说明，不代表 A3 配套或官方软件栈认证。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【HPL 与 HPCG 的现场问题】</a:t>
            </a:r>
          </a:p>
          <a:p xmlns:a="http://schemas.openxmlformats.org/drawingml/2006/main">
            <a:r>
              <a:t>旧/新 cpu-workload.env 完全相同并不能证明 HPL 网格正确。HPL_N/NB/P/Q 留空时使用镜像 HPL.dat，若其中 P=4,Q=2 而 ranks=1，则 doctor 正确拒绝 4×2!=1。</a:t>
            </a:r>
          </a:p>
          <a:p xmlns:a="http://schemas.openxmlformats.org/drawingml/2006/main">
            <a:r>
              <a:t>使用 --hpl-profile small --hpl-processes 1 --hpl-threads 1，得到 N4096/NB256/P1/Q1。不要只给 --hpl-p 1 --hpl-q 1，当前生成器要求 N/NB/P/Q 四项成组设置。显式等价参数为 --hpl-n 4096 --hpl-nb 256 --hpl-p 1 --hpl-q 1 --hpl-processes 1。</a:t>
            </a:r>
          </a:p>
          <a:p xmlns:a="http://schemas.openxmlformats.org/drawingml/2006/main">
            <a:r>
              <a:t>HPCG 参数独立：--hpcg-processes 1 --hpcg-threads 1 --hpcg-nx 32 --hpcg-ny 32 --hpcg-nz 32 --hpcg-runtime 60。STREAM_THREADS=0 意味着不设置 OMP 线程数，不等于运行零线程。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【模型参数变体，无需重编镜像】</a:t>
            </a:r>
          </a:p>
          <a:p xmlns:a="http://schemas.openxmlformats.org/drawingml/2006/main">
            <a:r>
              <a:t>先准备同一镜像版本的完整 JSON 配置目录，不裁掉 A3 或其他原始配置。下面示例创建独立的小步数变体，参数只是示例，并不保证当前节点显存或 SDC 已通过：</a:t>
            </a:r>
          </a:p>
          <a:p xmlns:a="http://schemas.openxmlformats.org/drawingml/2006/main">
            <a:r>
              <a:t>python3 scripts/stress/npu_config_profile.py \</a:t>
            </a:r>
          </a:p>
          <a:p xmlns:a="http://schemas.openxmlformats.org/drawingml/2006/main">
            <a:r>
              <a:t>  --source-dir /opt/catmonitor/npu-config/base \</a:t>
            </a:r>
          </a:p>
          <a:p xmlns:a="http://schemas.openxmlformats.org/drawingml/2006/main">
            <a:r>
              <a:t>  --output-dir /opt/catmonitor/npu-config/a2-v1 \</a:t>
            </a:r>
          </a:p>
          <a:p xmlns:a="http://schemas.openxmlformats.org/drawingml/2006/main">
            <a:r>
              <a:t>  --batch-size 1 --num-warmup 2 --run-count 10</a:t>
            </a:r>
          </a:p>
          <a:p xmlns:a="http://schemas.openxmlformats.org/drawingml/2006/main">
            <a:r>
              <a:t>python3 scripts/stress/npu_config_profile.py \</a:t>
            </a:r>
          </a:p>
          <a:p xmlns:a="http://schemas.openxmlformats.org/drawingml/2006/main">
            <a:r>
              <a:t>  --validate-dir /opt/catmonitor/npu-config/a2-v1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在上一页完整 generator 命令中增加：</a:t>
            </a:r>
          </a:p>
          <a:p xmlns:a="http://schemas.openxmlformats.org/drawingml/2006/main">
            <a:r>
              <a:t>--npu-config-dir /opt/catmonitor/npu-config/a2-v1</a:t>
            </a:r>
          </a:p>
          <a:p xmlns:a="http://schemas.openxmlformats.org/drawingml/2006/main">
            <a:r>
              <a:t>需要激活重计算则设置 --npu-model-memory-mode checkpointed。改变 memory mode、模型参数或运行软件栈后，旧参考必须重新匹配检查，不能绕过哈希。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【更新】</a:t>
            </a:r>
          </a:p>
          <a:p xmlns:a="http://schemas.openxmlformats.org/drawingml/2006/main">
            <a:r>
              <a:t>1. 先用 dc exec -T catmonitor catmonitor stress status -o table 确认无活动 Job。</a:t>
            </a:r>
          </a:p>
          <a:p xmlns:a="http://schemas.openxmlformats.org/drawingml/2006/main">
            <a:r>
              <a:t>2. 备份当前 generated 目录，保留镜像 digest、Compose config 和数据卷。</a:t>
            </a:r>
          </a:p>
          <a:p xmlns:a="http://schemas.openxmlformats.org/drawingml/2006/main">
            <a:r>
              <a:t>3. 使用完整 generator 参数输出到新的 G 目录，完整保留模型授权、设备 allowlist 和原有效 CPU 参数，避免局部复制丢配置。</a:t>
            </a:r>
          </a:p>
          <a:p xmlns:a="http://schemas.openxmlformats.org/drawingml/2006/main">
            <a:r>
              <a:t>4. 更新 G 后 dc config，检查最终 image、environment、devices、volumes 和 profile。</a:t>
            </a:r>
          </a:p>
          <a:p xmlns:a="http://schemas.openxmlformats.org/drawingml/2006/main">
            <a:r>
              <a:t>5. 只对受影响服务执行 dc up -d --no-deps --force-recreate；单独 CPU 改参只列 catmonitor-stress-cpu，Controller YAML 改变才列 catmonitor，NPU env/config 变化才列 catmonitor-stress-npu。</a:t>
            </a:r>
          </a:p>
          <a:p xmlns:a="http://schemas.openxmlformats.org/drawingml/2006/main">
            <a:r>
              <a:t>6. 再做 doctor 与模型只读预检。直接改挂载目录的文件不会得到原子切换保证，禁止在运行 Job 中改配置。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【CLI 例子】</a:t>
            </a:r>
          </a:p>
          <a:p xmlns:a="http://schemas.openxmlformats.org/drawingml/2006/main">
            <a:r>
              <a:t>dc exec -T catmonitor catmonitor stress run \</a:t>
            </a:r>
          </a:p>
          <a:p xmlns:a="http://schemas.openxmlformats.org/drawingml/2006/main">
            <a:r>
              <a:t>  --bench npu_burn --npu-devices 0,1 --npu-cases matmul,conv2d -o table</a:t>
            </a:r>
          </a:p>
          <a:p xmlns:a="http://schemas.openxmlformats.org/drawingml/2006/main">
            <a:r>
              <a:t>dc exec -T catmonitor catmonitor stress status -o table</a:t>
            </a:r>
          </a:p>
          <a:p xmlns:a="http://schemas.openxmlformats.org/drawingml/2006/main">
            <a:r>
              <a:t>dc exec -T catmonitor catmonitor stress cancel --job '&lt;实际 Job ID&gt;'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作业请求与实际 CSV 的设备/算子不一致时不能判总体成功。Cancel 始终按 Job ID，不依据当前网页勾选，也不杀其他业务进程。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公开源码依据：https://github.com/spike677/CATMonitor/tree/5a3537cfc0cd1420c5e63bb4991e72c832781eca</a:t>
            </a:r>
          </a:p>
          <a:p xmlns:a="http://schemas.openxmlformats.org/drawingml/2006/main">
            <a:r>
              <a:t>相关文件：scripts/stress/generate_stress_deployment.sh，docker/docker-compose.yml，docker/docker-compose.npu.yml，docker/docker-compose.stress.yml，features/stress/static/stress.js，features/stress/workloadplugin/npu_model_linux.go，docker/stress/npu/model_sdc.py。</a:t>
            </a:r>
          </a:p>
          <a:p xmlns:a="http://schemas.openxmlformats.org/drawingml/2006/main">
            <a:r>
              <a:t>内容核对日期：2026-10-14。以下为 A2 ARM64 候选版使用说明，不代表 A3 配套或官方软件栈认证。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截图来源：http://123.60.231.86:5001/stress/ ，2026-10-14 从当前开源 A2 页面直接截图。5001 是该实验环境的访问入口，产品默认 Web 端口仍是 19322。未访问闭源节点，未执行新 workload。</a:t>
            </a:r>
          </a:p>
          <a:p xmlns:a="http://schemas.openxmlformats.org/drawingml/2006/main">
            <a:r>
              <a:t>算子历史 Job：a50991c39e2680f7，2026-10-13 10:48:32，CLI，matmul，logical0/1，各210/210记录、总420/420、err_count0、1.99分钟。</a:t>
            </a:r>
          </a:p>
          <a:p xmlns:a="http://schemas.openxmlformats.org/drawingml/2006/main">
            <a:r>
              <a:t>模型历史 Job：6019333d43cc31dc，2026-10-13 17:46:54，Web，llama2，compare，参考ID llama2-b32-cp-dual-1791882886，logical0/1，比较72步，保存0步，检测错误0，激活重计算。该历史报告不替代今天候选镜像的新硬件验收。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【Web 算子操作】</a:t>
            </a:r>
          </a:p>
          <a:p xmlns:a="http://schemas.openxmlformats.org/drawingml/2006/main">
            <a:r>
              <a:t>1. 进入 /stress/，只勾选 NPU Burn。</a:t>
            </a:r>
          </a:p>
          <a:p xmlns:a="http://schemas.openxmlformats.org/drawingml/2006/main">
            <a:r>
              <a:t>2. 选择获准且确认空闲的 logical 设备，再选算子。当前可选列表来自镜像能力/准入结果，不是实机认证清单。</a:t>
            </a:r>
          </a:p>
          <a:p xmlns:a="http://schemas.openxmlformats.org/drawingml/2006/main">
            <a:r>
              <a:t>3. 展开“已选算子的 tensor 参数（只读）”查看 shape、dtype、pattern、run_count。需要修改参数时走外部配置，而非在浏览器改只读字段。</a:t>
            </a:r>
          </a:p>
          <a:p xmlns:a="http://schemas.openxmlformats.org/drawingml/2006/main">
            <a:r>
              <a:t>4. 确认请求后点“开始压测”，由唯一 Controller 重新预检并创建 Job。CLI 与 Web 可见同一作业。</a:t>
            </a:r>
          </a:p>
          <a:p xmlns:a="http://schemas.openxmlformats.org/drawingml/2006/main">
            <a:r>
              <a:t>5. 完成后核对实际设备/算子、当前作业 CSV 完整性、全部 PASS 与检测错误0。用例数不是卡数、算子数或迭代次数。</a:t>
            </a:r>
          </a:p>
          <a:p xmlns:a="http://schemas.openxmlformats.org/drawingml/2006/main">
            <a:r>
              <a:t>6. 按 Job ID 取消，不根据当前选项取消。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【模型参考与 SDC 的正确流程】</a:t>
            </a:r>
          </a:p>
          <a:p xmlns:a="http://schemas.openxmlformats.org/drawingml/2006/main">
            <a:r>
              <a:t>Controller 必须允许模型，并设置 allow_npu_reference_generation=true。</a:t>
            </a:r>
          </a:p>
          <a:p xmlns:a="http://schemas.openxmlformats.org/drawingml/2006/main">
            <a:r>
              <a:t>1. 选择 NPU Burn 后切换“模型 SDC”，选择 GPT3 或 Llama2。</a:t>
            </a:r>
          </a:p>
          <a:p xmlns:a="http://schemas.openxmlformats.org/drawingml/2006/main">
            <a:r>
              <a:t>2. 第一次使用：展开“首次使用：准备参考”，点“切换到生成参考（单卡）”。只选择一张已确认健康、获准、空闲的逻辑卡，填写新的参考 ID。切换按钮本身不会生成参考。</a:t>
            </a:r>
          </a:p>
          <a:p xmlns:a="http://schemas.openxmlformats.org/drawingml/2006/main">
            <a:r>
              <a:t>3. 点“预检本次选择（不训练）”，通过后再点主按钮“生成参考”并确认。生成参考会实际运行模型，占用 NPU。</a:t>
            </a:r>
          </a:p>
          <a:p xmlns:a="http://schemas.openxmlformats.org/drawingml/2006/main">
            <a:r>
              <a:t>4. 完成报告要求 outcome=reference_generated，saved_steps=expected_steps，errors=0。仅目录存在或文件存在不算成功。参考会持久化到 CATMONITOR_MODEL_REFERENCE_ROOT，并记录当前配置和运行栈身份。</a:t>
            </a:r>
          </a:p>
          <a:p xmlns:a="http://schemas.openxmlformats.org/drawingml/2006/main">
            <a:r>
              <a:t>5. 切回对照模式，选择同一模型，填写对应 reference ID，在参数、软件栈和显存策略匹配的条件下再次预检并“开始 SDC 检测”。</a:t>
            </a:r>
          </a:p>
          <a:p xmlns:a="http://schemas.openxmlformats.org/drawingml/2006/main">
            <a:r>
              <a:t>6. 最终 outcome=sdc_passed，每个请求设备都有完整 checked_steps，errors=0。</a:t>
            </a:r>
          </a:p>
          <a:p xmlns:a="http://schemas.openxmlformats.org/drawingml/2006/main">
            <a:r>
              <a:t>7. 普通 NPU doctor PASS 不保证模型预检或训练通过。case_catalog 中模型 selectable=false 仅表示不作为算子，不代表模型未支持或参考不存在。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【端口与安全】</a:t>
            </a:r>
          </a:p>
          <a:p xmlns:a="http://schemas.openxmlformats.org/drawingml/2006/main">
            <a:r>
              <a:t>可直连节点时无需 SSH 隧道：监控 /，Stress /stress/，DFeE :19323/，Exporter :19320/metrics（DFeE Exporter :9333/metrics）。设置 CATMONITOR_WEB_ADDR=:19322，放行可信来源访问。当前 Stress Run/Cancel 尚无认证/RBAC，不应直接暴露公网或不可信网络。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截图期间页面一度提示 workload 容器未运行，随后自动刷新为预检通过。说明当前可用性与历史 PASS 是不同状态，不能用历史结果掩盖现有故障。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部署步骤：</a:t>
            </a:r>
          </a:p>
          <a:p xmlns:a="http://schemas.openxmlformats.org/drawingml/2006/main">
            <a:r>
              <a:t>1. 先固定配套源码提交、镜像 Image ID 和 registry digest。docker save/load 不包含 volumes 或容器运行中临时替换的包。</a:t>
            </a:r>
          </a:p>
          <a:p xmlns:a="http://schemas.openxmlformats.org/drawingml/2006/main">
            <a:r>
              <a:t>2. A2 workload 不能仅改 chip_generation=A3 就视为 A3 适配。Control/CPU 是否复用取决于平台、驱动与执行协议。</a:t>
            </a:r>
          </a:p>
          <a:p xmlns:a="http://schemas.openxmlformats.org/drawingml/2006/main">
            <a:r>
              <a:t>3. 在 87 保留已有 CATMonitor，采用独立目录、容器名、Compose 项目与数据卷。当前 daemon Metrics 固定 :19320，旧服务采用 host 网络时，新增实例需另行设计网络隔离和宿主端口，不能只改项目名。</a:t>
            </a:r>
          </a:p>
          <a:p xmlns:a="http://schemas.openxmlformats.org/drawingml/2006/main">
            <a:r>
              <a:t>4. 基础监控 3 容器，增加 CPU 或 NPU 各增加 1 个，Full 为 5 个。</a:t>
            </a:r>
          </a:p>
          <a:p xmlns:a="http://schemas.openxmlformats.org/drawingml/2006/main">
            <a:r>
              <a:t>5. doctor 检查 JSON preflight，不能只看 describe 退出 0。busy 不阻止拿源码、pull 或生成配置，但必须遵守运行时准入。</a:t>
            </a:r>
          </a:p>
          <a:p xmlns:a="http://schemas.openxmlformats.org/drawingml/2006/main">
            <a:r>
              <a:t>6. NPU 算子报告须属于本轮 Job，设备/算子覆盖正确，CSV result 与 err_count 满足要求。测试取消需证明对应进程退出。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公开依据（固定提交）：</a:t>
            </a:r>
          </a:p>
          <a:p xmlns:a="http://schemas.openxmlformats.org/drawingml/2006/main">
            <a:r>
              <a:t>https://github.com/spike677/CATMonitor/blob/9c90f215caf91287056fc8fbc4c2362a2b566cd8/docker/NPU_A2_USAGE_GUIDE.md</a:t>
            </a:r>
          </a:p>
          <a:p xmlns:a="http://schemas.openxmlformats.org/drawingml/2006/main">
            <a:r>
              <a:t>https://github.com/spike677/CATMonitor/blob/9c90f215caf91287056fc8fbc4c2362a2b566cd8/docker/NPU_A3_MIGRATION_GUIDE.md</a:t>
            </a:r>
          </a:p>
          <a:p xmlns:a="http://schemas.openxmlformats.org/drawingml/2006/main">
            <a:r>
              <a:t>https://github.com/spike677/CATMonitor/blob/9c90f215caf91287056fc8fbc4c2362a2b566cd8/docker/docker-compose.yml</a:t>
            </a:r>
          </a:p>
          <a:p xmlns:a="http://schemas.openxmlformats.org/drawingml/2006/main">
            <a:r>
              <a:t>https://github.com/spike677/CATMonitor/blob/9c90f215caf91287056fc8fbc4c2362a2b566cd8/scripts/stress/generate_stress_deployment.sh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本页为操作流程，未声称新增 A3 硬件验收结果。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本页区分代码开发和运行配置。</a:t>
            </a:r>
          </a:p>
          <a:p xmlns:a="http://schemas.openxmlformats.org/drawingml/2006/main">
            <a:r>
              <a:t>1. Control 包含 daemon、CLI、Web、Controller、DFeE。修改请求/报告协议时，检查 Control 与 workload 的配套性，可能需要同步构建多个镜像。</a:t>
            </a:r>
          </a:p>
          <a:p xmlns:a="http://schemas.openxmlformats.org/drawingml/2006/main">
            <a:r>
              <a:t>2. CPU 构建入口按当前仓库脚本维护，不要求 CPU 功能不变时为 A3 迁移重复构建。</a:t>
            </a:r>
          </a:p>
          <a:p xmlns:a="http://schemas.openxmlformats.org/drawingml/2006/main">
            <a:r>
              <a:t>3. NPU 上游改动以 compatibility profile 和 patch 固化，保留完整 A3 配置。不能把带补丁的镜像标成 profile=none。</a:t>
            </a:r>
          </a:p>
          <a:p xmlns:a="http://schemas.openxmlformats.org/drawingml/2006/main">
            <a:r>
              <a:t>4. wheel 作为镜像构建输入时必须验证来源、Python ABI、torch/torch_npu、Custom Ops 真实导入及完整配置。未经镜像构建入口和校验支持，不用临时 docker cp/pip install 替代交付。</a:t>
            </a:r>
          </a:p>
          <a:p xmlns:a="http://schemas.openxmlformats.org/drawingml/2006/main">
            <a:r>
              <a:t>5. 先跑回归，再创建独立候选标签。需要分发时按授权推送或 save/load，并校验拉回身份；本页不代表已经发布。</a:t>
            </a:r>
          </a:p>
          <a:p xmlns:a="http://schemas.openxmlformats.org/drawingml/2006/main">
            <a:r>
              <a:t>6. 等 Job 终态和进程清理后切换受影响服务，保护历史与参考卷。真实硬件测试未做标记 PENDING。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公开依据（固定提交）：</a:t>
            </a:r>
          </a:p>
          <a:p xmlns:a="http://schemas.openxmlformats.org/drawingml/2006/main">
            <a:r>
              <a:t>https://github.com/spike677/CATMonitor/blob/9c90f215caf91287056fc8fbc4c2362a2b566cd8/docker/DEVELOPER_GUIDE.md</a:t>
            </a:r>
          </a:p>
          <a:p xmlns:a="http://schemas.openxmlformats.org/drawingml/2006/main">
            <a:r>
              <a:t>https://github.com/spike677/CATMonitor/blob/9c90f215caf91287056fc8fbc4c2362a2b566cd8/docker/NPU_A3_MIGRATION_GUIDE.md</a:t>
            </a:r>
          </a:p>
          <a:p xmlns:a="http://schemas.openxmlformats.org/drawingml/2006/main">
            <a:r>
              <a:t>https://github.com/spike677/CATMonitor/blob/9c90f215caf91287056fc8fbc4c2362a2b566cd8/scripts/stress/build_npu_burn_image.sh</a:t>
            </a:r>
          </a:p>
          <a:p xmlns:a="http://schemas.openxmlformats.org/drawingml/2006/main">
            <a:r>
              <a:t>https://github.com/spike677/CATMonitor/blob/9c90f215caf91287056fc8fbc4c2362a2b566cd8/docker/NPU_A2_USAGE_GUIDE.md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本页为操作流程，未声称新增 A3 硬件验收结果。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作业级接口示例：catmonitor stress run --bench npu_burn --npu-devices 0,1 --npu-cases matmul,conv2d。选择必须落在管理员 allowlist，空选择不能扩大为 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管理员级变更：以旧配置为基准，在新目录使用完整 generator 参数生成，检查渲染后的 Compose 和应用 YAML。只改授权时更新 daemon Controller；更改 workload 环境、设备映射或配置挂载时更新对应 workload。不要把 Compose config 成功当作 doctor 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外部参数：--npu-config-dir 指向完整只读配置目录，内部挂载位置为 /opt/catmonitor/npuburn-python/ascend_npu_burn/config。管理员手动选择目录，不按产品型号自动选最优参数。npu_config_profile.py 的变体修改目前针对 A2 GPT3/Llama2 指定参数，不是所有算子或 A3 的自动调参器。算子参数应在独立副本中按其真实 case 结构编辑，再使用 --validate-dir 校验。不要杜撰 exec_count，也不降级 dtype。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模型参考：参数、软件栈或内存模式变更后先预检匹配。需要新参考时，在健康授权单卡运行 create_reference，确认 reference_generated 与 saved_steps=expected_steps，再用同一配置进行 compare。生成参考成功不等于 SDC 对照成功。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的 tensor 详情反映当前有效配置，历史报告记录本 Job 的参数，不用当前配置覆盖历史解释。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公开依据（固定提交）：</a:t>
            </a:r>
          </a:p>
          <a:p xmlns:a="http://schemas.openxmlformats.org/drawingml/2006/main">
            <a:r>
              <a:t>https://github.com/spike677/CATMonitor/blob/9c90f215caf91287056fc8fbc4c2362a2b566cd8/docker/NPU_A2_USAGE_GUIDE.md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本页为操作流程，未声称新增 A3 硬件验收结果。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维护窗口是管理员操作约束，不表示本版本已有通用的“暂停接收所有任务”按钮。应通过获准的访问控制限制新操作，先查询 status，再等待作业结束或用真实 Job ID cancel。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开启：stress.enabled=true，加上目标 benchmark enabled、设备/model allowlist 与所需 workload；start workload，force-recreate daemon，再 doctor。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停用全部：仅修改 stress 段 enabled=false，force-recreate daemon，stop CPU/NPU workload。监控 collector 与 snapshot 配置不变。API 应 enabled=false、available=false；静态 /stress 页面仍可访问。Controller 重建有短暂监控中断。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仅停用 NPU：stress.benchmarks.npu_burn.enabled=false，更新 daemon 并停止 NPU workload。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模型：allowed_npu_models=[] 禁用模型；allow_npu_reference_generation=false 只禁止创建新参考，已有匹配参考仍可 compare。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长期 Monitoring-only 如需收回 daemon Docker socket，应在维护窗口改用不含 stress overlay 的部署组合并保留自定义监控配置。单纯配置关闭 Stress 不自动移除挂载。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 web_enabled 参与界面能力显示，不能当作完整 HTTP mutation 授权机制。无完整认证/RBAC时不要暴露到不可信网络。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公开依据（固定提交）：</a:t>
            </a:r>
          </a:p>
          <a:p xmlns:a="http://schemas.openxmlformats.org/drawingml/2006/main">
            <a:r>
              <a:t>https://github.com/spike677/CATMonitor/blob/9c90f215caf91287056fc8fbc4c2362a2b566cd8/docker/NPU_A2_USAGE_GUIDE.md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本页为操作流程，未声称新增 A3 硬件验收结果。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3d0ea947745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6e8464fec4b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fc22de8d448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617d9f09148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2107296e74a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9606eb3a7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0182C2-5200-4880-91D6-04514BD01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E34CEF-4006-4C45-89DE-DCDE2426C7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05BC25-63A1-423A-AACF-63C72518C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11FC54-BCB5-4DB1-B03B-CED2F84F4A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4ED30F-8286-4742-95E3-3C99A31436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52DF87-EAD7-48C6-A314-114BE7884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CB3632-1560-47B1-A4F5-350F4C5DA4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672B22-480A-4787-AB7E-088ED0332C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F075BC-F153-453C-BB24-2BD3C9495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F35446-37A0-47A7-9D51-5D5B96CB8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6e8847a0f4026" /><Relationship Type="http://schemas.openxmlformats.org/officeDocument/2006/relationships/slideLayout" Target="/ppt/slideLayouts/slideLayout1.xml" Id="Ra322dd535e324fa9" /><Relationship Type="http://schemas.openxmlformats.org/officeDocument/2006/relationships/slideLayout" Target="/ppt/slideLayouts/slideLayout2.xml" Id="R83dd13afea4c4f5a" /><Relationship Type="http://schemas.openxmlformats.org/officeDocument/2006/relationships/slideLayout" Target="/ppt/slideLayouts/slideLayout3.xml" Id="R8ebbe756dd824bb9" /><Relationship Type="http://schemas.openxmlformats.org/officeDocument/2006/relationships/slideLayout" Target="/ppt/slideLayouts/slideLayout4.xml" Id="R34f64c88dfc74422" /><Relationship Type="http://schemas.openxmlformats.org/officeDocument/2006/relationships/slideLayout" Target="/ppt/slideLayouts/slideLayout5.xml" Id="R289cb89632ad4d85" /><Relationship Type="http://schemas.openxmlformats.org/officeDocument/2006/relationships/slideLayout" Target="/ppt/slideLayouts/slideLayout6.xml" Id="R631edb31a3e7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2dd535e324fa9"/>
    <p:sldLayoutId xmlns:r="http://schemas.openxmlformats.org/officeDocument/2006/relationships" id="2147483650" r:id="R83dd13afea4c4f5a"/>
    <p:sldLayoutId xmlns:r="http://schemas.openxmlformats.org/officeDocument/2006/relationships" id="2147483651" r:id="R8ebbe756dd824bb9"/>
    <p:sldLayoutId xmlns:r="http://schemas.openxmlformats.org/officeDocument/2006/relationships" id="2147483652" r:id="R34f64c88dfc74422"/>
    <p:sldLayoutId xmlns:r="http://schemas.openxmlformats.org/officeDocument/2006/relationships" id="2147483653" r:id="R289cb89632ad4d85"/>
    <p:sldLayoutId xmlns:r="http://schemas.openxmlformats.org/officeDocument/2006/relationships" id="2147483654" r:id="R631edb31a3e7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f1a7911f1a4955" /><Relationship Type="http://schemas.openxmlformats.org/officeDocument/2006/relationships/notesSlide" Target="/ppt/notesSlides/notesSlide1.xml" Id="Rd4ec4e7ff93249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c5b73b26c4f76" /><Relationship Type="http://schemas.openxmlformats.org/officeDocument/2006/relationships/notesSlide" Target="/ppt/notesSlides/notesSlide2.xml" Id="R14f4ac657754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6c067226d4dd8" /><Relationship Type="http://schemas.openxmlformats.org/officeDocument/2006/relationships/notesSlide" Target="/ppt/notesSlides/notesSlide3.xml" Id="Reef93ae9d385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cb7f0277440d6" /><Relationship Type="http://schemas.openxmlformats.org/officeDocument/2006/relationships/notesSlide" Target="/ppt/notesSlides/notesSlide4.xml" Id="R750388511105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f0b2a00d6464e" /><Relationship Type="http://schemas.openxmlformats.org/officeDocument/2006/relationships/image" Target="/ppt/media/image.jpeg" Id="Rfa7566d68310450b" /><Relationship Type="http://schemas.openxmlformats.org/officeDocument/2006/relationships/image" Target="/ppt/media/image2.jpeg" Id="Rb7b0904ffc7f4354" /><Relationship Type="http://schemas.openxmlformats.org/officeDocument/2006/relationships/notesSlide" Target="/ppt/notesSlides/notesSlide5.xml" Id="Rd7ea93220198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df39148214247" /><Relationship Type="http://schemas.openxmlformats.org/officeDocument/2006/relationships/notesSlide" Target="/ppt/notesSlides/notesSlide6.xml" Id="R3a509484c51741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d4c42fed241a0" /><Relationship Type="http://schemas.openxmlformats.org/officeDocument/2006/relationships/notesSlide" Target="/ppt/notesSlides/notesSlide7.xml" Id="Re05958f68d2640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b1a3768fa469e" /><Relationship Type="http://schemas.openxmlformats.org/officeDocument/2006/relationships/notesSlide" Target="/ppt/notesSlides/notesSlide8.xml" Id="R2c67f425a83143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17dbdd7ba407f" /><Relationship Type="http://schemas.openxmlformats.org/officeDocument/2006/relationships/notesSlide" Target="/ppt/notesSlides/notesSlide9.xml" Id="R3b89dcd66a9f44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C1465ABF-C640-41AF-8DF2-0FE7D6E9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NPU Burn：算子压测与模型 SDC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1468E4-C44A-4E8A-8E13-E6D634EF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CATMonitor A2 使用指南　ARM64 候选版本　2026-10-14</a:t>
            </a:r>
          </a:p>
        </p:txBody>
      </p:sp>
      <p:sp>
        <p:nvSpPr>
          <p:cNvPr id="3" name="operator-head">
            <a:extLst xmlns:a="http://schemas.openxmlformats.org/drawingml/2006/main">
              <a:ext uri="{FF2B5EF4-FFF2-40B4-BE49-F238E27FC236}">
                <a16:creationId xmlns:a16="http://schemas.microsoft.com/office/drawing/2014/main" id="{EEA5B1B7-9758-4A1F-BB9D-625180A9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算子压测</a:t>
            </a:r>
          </a:p>
        </p:txBody>
      </p:sp>
      <p:sp>
        <p:nvSpPr>
          <p:cNvPr id="4" name="operator-body">
            <a:extLst xmlns:a="http://schemas.openxmlformats.org/drawingml/2006/main">
              <a:ext uri="{FF2B5EF4-FFF2-40B4-BE49-F238E27FC236}">
                <a16:creationId xmlns:a16="http://schemas.microsoft.com/office/drawing/2014/main" id="{E897DC4B-AE0E-4FE0-9820-24887F6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6000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选择已授权的逻辑设备和算子，在指定 tensor 配置下执行计算与结果校验。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结果按设备、算子及 CSV 用例记录汇总，检测错误必须为 0。</a:t>
            </a:r>
          </a:p>
        </p:txBody>
      </p:sp>
      <p:sp>
        <p:nvSpPr>
          <p:cNvPr id="5" name="model-head">
            <a:extLst xmlns:a="http://schemas.openxmlformats.org/drawingml/2006/main">
              <a:ext uri="{FF2B5EF4-FFF2-40B4-BE49-F238E27FC236}">
                <a16:creationId xmlns:a16="http://schemas.microsoft.com/office/drawing/2014/main" id="{CAB95D1B-D947-4C74-81A2-9499E51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模型 SDC</a:t>
            </a:r>
          </a:p>
        </p:txBody>
      </p:sp>
      <p:sp>
        <p:nvSpPr>
          <p:cNvPr id="6" name="model-body">
            <a:extLst xmlns:a="http://schemas.openxmlformats.org/drawingml/2006/main">
              <a:ext uri="{FF2B5EF4-FFF2-40B4-BE49-F238E27FC236}">
                <a16:creationId xmlns:a16="http://schemas.microsoft.com/office/drawing/2014/main" id="{9666B96D-DC6F-41B2-B923-E6E4F49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600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GPT3 / Llama2 先在健康单卡生成参考，再用匹配配置进行对照。参考是训练标准结果，不是预训练权重。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多卡逐卡独立运行，不合并显存。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3442E-A7F3-4D2B-A4E5-37C6429238A4}"/>
              </a:ext>
            </a:extLst>
          </p:cNvPr>
          <p:cNvGraphicFramePr/>
          <p:nvPr/>
        </p:nvGraphicFramePr>
        <p:xfrm>
          <a:off xmlns:a="http://schemas.openxmlformats.org/drawingml/2006/main" x="7143750" y="1885950"/>
          <a:ext xmlns:a="http://schemas.openxmlformats.org/drawingml/2006/main" cx="74866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5295900"/>
              </a:tblGrid>
              <a:tr h="49530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</a:tr>
              <a:tr h="74295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逻辑设备 0、1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运行时索引，与宿主 davinci 编号分开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 / 模型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matmul、conv2d 等 / GPT3、Llama2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 配置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shape、dtype、pattern、run_count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 ID / 操作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create_reference 或 compare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作业时限 1800 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超时上限，不等于持续压测 30 分钟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limits">
            <a:extLst xmlns:a="http://schemas.openxmlformats.org/drawingml/2006/main">
              <a:ext uri="{FF2B5EF4-FFF2-40B4-BE49-F238E27FC236}">
                <a16:creationId xmlns:a16="http://schemas.microsoft.com/office/drawing/2014/main" id="{201D460A-ABD1-48B9-8F5F-279614DA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705600"/>
            <a:ext cx="7486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预检通过只说明准入条件满足。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A2 quant_matmul 缺少上游策略，不能套用 A3/A5。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94C3CDA-242D-4E11-9150-983F9DD9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统一 Controller 管理 CLI / Web 作业、状态、历史与取消。Stress 结果不计入监控健康分。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11915FE6-F597-427E-BB20-92514CD5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4435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32EC5047-3370-4828-B47A-953ACA5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下载：三张镜像分别包含什么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56C861-34B3-4253-BA45-B5AFF37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适用 A2 / linux/arm64。已有镜像可直接创建容器，无需在目标节点重新编译或安装 wheel。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D33C7-3CA4-419C-9A1A-765E7A6DFCBE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4020800" cy="2905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6334125"/>
                <a:gridCol w="4352925"/>
              </a:tblGrid>
              <a:tr h="45720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镜像仓库名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镜像包含的内容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 / 按需下载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</a:tr>
              <a:tr h="790575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catmonitor-npu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CATMonitor daemon / CLI / Controller、Web、DFeE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基础监控与控制面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一张镜像启动 3 个服务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catmonitor-stress-cpu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STREAM、HPL、HPCG、MPI、OpenBLAS、workload executor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 CPU 压测时下载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不单独提供 CLI / Web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catmonitor-stress-npu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CANN 8.5.1、torch / torch_npu、NPU Burn、Custom Ops、lspci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 NPU / 模型 SDC 时下载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宿主仍需兼容 Ascend 驱动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ownload-label">
            <a:extLst xmlns:a="http://schemas.openxmlformats.org/drawingml/2006/main">
              <a:ext uri="{FF2B5EF4-FFF2-40B4-BE49-F238E27FC236}">
                <a16:creationId xmlns:a16="http://schemas.microsoft.com/office/drawing/2014/main" id="{837E3360-F7A4-491F-A94C-19150815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镜像地址与下载</a:t>
            </a:r>
          </a:p>
        </p:txBody>
      </p:sp>
      <p:sp>
        <p:nvSpPr>
          <p:cNvPr id="5" name="pull-code">
            <a:extLst xmlns:a="http://schemas.openxmlformats.org/drawingml/2006/main">
              <a:ext uri="{FF2B5EF4-FFF2-40B4-BE49-F238E27FC236}">
                <a16:creationId xmlns:a16="http://schemas.microsoft.com/office/drawing/2014/main" id="{72352159-1366-44F3-93CA-97FFA4F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7048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R=ghcr.io/spike677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T=arm64-v0.3.6-a2-5a3537cfc0cd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CT=arm64-candidate-5a3537c-20261014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CONTROL="$R/catmonitor-npu:$T"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CPU="$R/catmonitor-stress-cpu:$CT"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NPU="$R/catmonitor-stress-npu:$T"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docker pull "$CONTROL"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docker pull "$CPU"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docker pull "$NPU"</a:t>
            </a:r>
          </a:p>
        </p:txBody>
      </p:sp>
      <p:sp>
        <p:nvSpPr>
          <p:cNvPr id="6" name="git-label">
            <a:extLst xmlns:a="http://schemas.openxmlformats.org/drawingml/2006/main">
              <a:ext uri="{FF2B5EF4-FFF2-40B4-BE49-F238E27FC236}">
                <a16:creationId xmlns:a16="http://schemas.microsoft.com/office/drawing/2014/main" id="{A752C19C-454A-4B10-9894-79FE3EE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19650"/>
            <a:ext cx="623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配套源码</a:t>
            </a:r>
          </a:p>
        </p:txBody>
      </p:sp>
      <p:sp>
        <p:nvSpPr>
          <p:cNvPr id="7" name="clone-code">
            <a:extLst xmlns:a="http://schemas.openxmlformats.org/drawingml/2006/main">
              <a:ext uri="{FF2B5EF4-FFF2-40B4-BE49-F238E27FC236}">
                <a16:creationId xmlns:a16="http://schemas.microsoft.com/office/drawing/2014/main" id="{E685CF78-0353-466A-AB7B-3578FFC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67325"/>
            <a:ext cx="64865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git clone -b codex/npu-model-a3-migration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https://github.com/spike677/CATMonitor.git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cd CATMonitor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git checkout --detach 5a3537cfc0cd</a:t>
            </a:r>
          </a:p>
        </p:txBody>
      </p:sp>
      <p:sp>
        <p:nvSpPr>
          <p:cNvPr id="8" name="download-size">
            <a:extLst xmlns:a="http://schemas.openxmlformats.org/drawingml/2006/main">
              <a:ext uri="{FF2B5EF4-FFF2-40B4-BE49-F238E27FC236}">
                <a16:creationId xmlns:a16="http://schemas.microsoft.com/office/drawing/2014/main" id="{197EA17B-5380-457A-9E98-863E6351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705600"/>
            <a:ext cx="64865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无缓存下载约：Control 123 MB、CPU 60 MB、NPU 5.94 GB。NPU 落盘约 16.1 GB，还需为结果和构建缓存留空间。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122C24E-41CE-40A2-BE4B-CE8951B9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这些是带提交身份的候选镜像，不用 latest。仅 NPU 模式无需下载 CPU 镜像；离线可 save/load 同一镜像。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EE69C35-159C-452A-83DC-27186DCC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402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5C5232FE-0F60-48DE-BC3B-83652FB3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部署：生成配置后组合 Compose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572610-F4F5-4D0F-8172-72D7EEFA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前提：驱动、设备节点、Docker / Compose v2 正常，名称和端口无冲突。新部署不会修改其他业务容器。</a:t>
            </a:r>
          </a:p>
        </p:txBody>
      </p:sp>
      <p:sp>
        <p:nvSpPr>
          <p:cNvPr id="3" name="generate-label">
            <a:extLst xmlns:a="http://schemas.openxmlformats.org/drawingml/2006/main">
              <a:ext uri="{FF2B5EF4-FFF2-40B4-BE49-F238E27FC236}">
                <a16:creationId xmlns:a16="http://schemas.microsoft.com/office/drawing/2014/main" id="{525C5549-A2C1-4CA0-85BC-22727D46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1 生成 A2 配置</a:t>
            </a:r>
          </a:p>
        </p:txBody>
      </p:sp>
      <p:sp>
        <p:nvSpPr>
          <p:cNvPr id="4" name="vars">
            <a:extLst xmlns:a="http://schemas.openxmlformats.org/drawingml/2006/main">
              <a:ext uri="{FF2B5EF4-FFF2-40B4-BE49-F238E27FC236}">
                <a16:creationId xmlns:a16="http://schemas.microsoft.com/office/drawing/2014/main" id="{4B860D99-9286-48E7-8963-CF427D48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6791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G=/etc/catmonitor/a2-stress，先创建目录；CONTROL / CPU / NPU 沿用上一页。</a:t>
            </a:r>
          </a:p>
        </p:txBody>
      </p:sp>
      <p:sp>
        <p:nvSpPr>
          <p:cNvPr id="5" name="generator-code">
            <a:extLst xmlns:a="http://schemas.openxmlformats.org/drawingml/2006/main">
              <a:ext uri="{FF2B5EF4-FFF2-40B4-BE49-F238E27FC236}">
                <a16:creationId xmlns:a16="http://schemas.microsoft.com/office/drawing/2014/main" id="{74765618-4D12-4555-ABDE-E2DE6741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9532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bash scripts/stress/generate_stress_deployment.sh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--output-dir "$G" --control-image "$CONTROL"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--cpu-image "$CPU" --npu-image "$NPU"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--hpl-profile small --hpl-processes 1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--npu-chip-generation A2 --npu-runtime runc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--npu-burn-device 0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--npu-allowed-devices 0,1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--npu-allowed-models gpt3,llama2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--allow-npu-reference-generation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--enable-web</a:t>
            </a:r>
          </a:p>
        </p:txBody>
      </p:sp>
      <p:sp>
        <p:nvSpPr>
          <p:cNvPr id="6" name="device-note">
            <a:extLst xmlns:a="http://schemas.openxmlformats.org/drawingml/2006/main">
              <a:ext uri="{FF2B5EF4-FFF2-40B4-BE49-F238E27FC236}">
                <a16:creationId xmlns:a16="http://schemas.microsoft.com/office/drawing/2014/main" id="{359F220E-6088-476E-94E8-1E49880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设备授权示例为 124 双卡逻辑 0、1。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其他节点按 doctor / 实际拓扑核对，不能把 davinci2、5 填成逻辑设备 2、5。</a:t>
            </a:r>
          </a:p>
        </p:txBody>
      </p:sp>
      <p:sp>
        <p:nvSpPr>
          <p:cNvPr id="7" name="compose-label">
            <a:extLst xmlns:a="http://schemas.openxmlformats.org/drawingml/2006/main">
              <a:ext uri="{FF2B5EF4-FFF2-40B4-BE49-F238E27FC236}">
                <a16:creationId xmlns:a16="http://schemas.microsoft.com/office/drawing/2014/main" id="{E6DB894D-3537-4D27-9918-92535D48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43075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2 启动并检查 5 个服务</a:t>
            </a:r>
          </a:p>
        </p:txBody>
      </p:sp>
      <p:sp>
        <p:nvSpPr>
          <p:cNvPr id="8" name="compose-code">
            <a:extLst xmlns:a="http://schemas.openxmlformats.org/drawingml/2006/main">
              <a:ext uri="{FF2B5EF4-FFF2-40B4-BE49-F238E27FC236}">
                <a16:creationId xmlns:a16="http://schemas.microsoft.com/office/drawing/2014/main" id="{5EF486E8-E087-47D8-BB89-BDDFE4FD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6534150" cy="36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export CATMONITOR_IMAGE="$CONTROL"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dc() {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docker compose -p catmonitor-a2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  -f docker/docker-compose.yml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  -f docker/docker-compose.npu.yml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  -f docker/docker-compose.stress.yml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  -f "$G/docker-compose.stress.generated.yml"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  --profile stress-cpu --profile stress-npu "$@"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 config --services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 up -d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 exec -T catmonitor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catmonitor stress doctor -o table</a:t>
            </a:r>
          </a:p>
        </p:txBody>
      </p:sp>
      <p:sp>
        <p:nvSpPr>
          <p:cNvPr id="9" name="compose-services">
            <a:extLst xmlns:a="http://schemas.openxmlformats.org/drawingml/2006/main">
              <a:ext uri="{FF2B5EF4-FFF2-40B4-BE49-F238E27FC236}">
                <a16:creationId xmlns:a16="http://schemas.microsoft.com/office/drawing/2014/main" id="{A81DAD25-9300-4CD9-AC50-DEA73D96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72200"/>
            <a:ext cx="653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catmonitor、web、dfee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catmonitor-stress-cpu、catmonitor-stress-npu</a:t>
            </a:r>
          </a:p>
        </p:txBody>
      </p:sp>
      <p:sp>
        <p:nvSpPr>
          <p:cNvPr id="10" name="overlay-note">
            <a:extLst xmlns:a="http://schemas.openxmlformats.org/drawingml/2006/main">
              <a:ext uri="{FF2B5EF4-FFF2-40B4-BE49-F238E27FC236}">
                <a16:creationId xmlns:a16="http://schemas.microsoft.com/office/drawing/2014/main" id="{F7216EE3-CD57-49F4-A278-5624FEEE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81825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generated 是 overlay，不能单独启动。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缺少 --profile 时不会启用对应压测服务。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C5CB082-E467-4B18-B8B4-FC093E38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完整预检、目录、CANN 路径与命令见本页备注。只启用 NPU：省略 CPU image 参数与 stress-cpu profile。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F58CC92C-54DD-44D3-81BA-AD3226C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2810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348A393-F153-4A40-B178-0CA5F21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参数调整：部署授权与本次作业分开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45C5CE-B27E-418D-9CEA-0CAAA8E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管理员修改生成器输入；用户在 Web / CLI 为单个 Job 选择设备、算子或模型。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FE858-9883-4AE8-BCEF-D5B8B96BE752}"/>
              </a:ext>
            </a:extLst>
          </p:cNvPr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4020800" cy="4343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6896100"/>
                <a:gridCol w="4857750"/>
              </a:tblGrid>
              <a:tr h="45720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调整对象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明确参数 / 示例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55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生效方式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T w="5715">
                      <a:solidFill>
                        <a:srgbClr val="CBD5E1"/>
                      </a:solidFill>
                      <a:prstDash val="solid"/>
                    </a:lnT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E7EDF8"/>
                    </a:solidFill>
                  </a:tcPr>
                </a:tc>
              </a:tr>
              <a:tr h="1057275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设备与模型权限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--npu-burn-device 0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--npu-allowed-devices 0,1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--npu-allowed-models gpt3,llama2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重新生成配置并更新 Controller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默认选卡 ≠ 授权范围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规模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--hpl-profile small --hpl-processes 1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--hpl-threads 1；--hpcg-runtime 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重建 CPU 容器，不重编镜像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HPL 必须 P × Q = MPI ranks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57275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 / 模型参数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--npu-config-dir /opt/catmonitor/npu-config/a2-v1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JSON 配置目录，只读挂载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空闲时更新 NPU 容器并重做预检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参数改变后核对 / 重建匹配参考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本次作业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CBD5E1"/>
                      </a:solidFill>
                      <a:prstDash val="solid"/>
                    </a:lnL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--npu-devices 0,1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--npu-cases matmul,conv2d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只作用于本次 Job</a:t>
                      </a:r>
                    </a:p>
                    <a:p>
                      <a:r>
                        <a:rPr sz="1800" b="0">
                          <a:solidFill>
                            <a:srgbClr val="102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不修改共享 YAML 或容器默认值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CBD5E1"/>
                      </a:solidFill>
                      <a:prstDash val="solid"/>
                    </a:lnR>
                    <a:lnB w="571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job-label">
            <a:extLst xmlns:a="http://schemas.openxmlformats.org/drawingml/2006/main">
              <a:ext uri="{FF2B5EF4-FFF2-40B4-BE49-F238E27FC236}">
                <a16:creationId xmlns:a16="http://schemas.microsoft.com/office/drawing/2014/main" id="{C011E488-C393-430A-AF41-1E68C483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单次算子作业</a:t>
            </a:r>
          </a:p>
        </p:txBody>
      </p:sp>
      <p:sp>
        <p:nvSpPr>
          <p:cNvPr id="5" name="job-command">
            <a:extLst xmlns:a="http://schemas.openxmlformats.org/drawingml/2006/main">
              <a:ext uri="{FF2B5EF4-FFF2-40B4-BE49-F238E27FC236}">
                <a16:creationId xmlns:a16="http://schemas.microsoft.com/office/drawing/2014/main" id="{5FE8D436-BC8B-4E05-A21E-FA1B7606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91325"/>
            <a:ext cx="6953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 exec -T catmonitor catmonitor stress run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--bench npu_burn --npu-devices 0,1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--npu-cases matmul,conv2d -o table</a:t>
            </a:r>
          </a:p>
        </p:txBody>
      </p:sp>
      <p:sp>
        <p:nvSpPr>
          <p:cNvPr id="6" name="update-label">
            <a:extLst xmlns:a="http://schemas.openxmlformats.org/drawingml/2006/main">
              <a:ext uri="{FF2B5EF4-FFF2-40B4-BE49-F238E27FC236}">
                <a16:creationId xmlns:a16="http://schemas.microsoft.com/office/drawing/2014/main" id="{70256A09-3194-4BD5-BF55-14E97CD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305550"/>
            <a:ext cx="642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配置更新与取消</a:t>
            </a:r>
          </a:p>
        </p:txBody>
      </p:sp>
      <p:sp>
        <p:nvSpPr>
          <p:cNvPr id="7" name="update-command">
            <a:extLst xmlns:a="http://schemas.openxmlformats.org/drawingml/2006/main">
              <a:ext uri="{FF2B5EF4-FFF2-40B4-BE49-F238E27FC236}">
                <a16:creationId xmlns:a16="http://schemas.microsoft.com/office/drawing/2014/main" id="{01385D51-03B5-4903-96E5-8F6C3B7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791325"/>
            <a:ext cx="6477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 up -d --no-deps --force-recreate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  catmonitor catmonitor-stress-cpu catmonitor-stress-npu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102442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442"/>
                </a:solidFill>
                <a:latin typeface="Consolas"/>
                <a:ea typeface="Consolas"/>
                <a:cs typeface="Consolas"/>
              </a:rPr>
              <a:t>dc exec -T catmonitor catmonitor stress cancel --job ID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7E3B6D6-B550-4609-9A48-8B695DB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只更新参数发生变化的服务，先确认无活动 Job。不要仅 restart 或临时 docker exec -e。完整变更步骤在备注。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B03614A-8322-40B6-BD05-FF2E6DEC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0612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870AB63-13E7-4117-8B88-B755B7C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Web 操作与真实 A2 报告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F36A6A-1692-4FA4-A94A-41B2761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390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访问 http://节点IP:19322/stress/。本页为开源 A2 页面中的历史结果，截图日期 2026-10-14。</a:t>
            </a:r>
          </a:p>
        </p:txBody>
      </p:sp>
      <p:sp>
        <p:nvSpPr>
          <p:cNvPr id="3" name="operator-title">
            <a:extLst xmlns:a="http://schemas.openxmlformats.org/drawingml/2006/main">
              <a:ext uri="{FF2B5EF4-FFF2-40B4-BE49-F238E27FC236}">
                <a16:creationId xmlns:a16="http://schemas.microsoft.com/office/drawing/2014/main" id="{B0B4123C-CCF5-44DB-8B19-527EDF06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848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算子压测：matmul，逻辑设备 0、1</a:t>
            </a:r>
          </a:p>
        </p:txBody>
      </p:sp>
      <p:sp>
        <p:nvSpPr>
          <p:cNvPr id="4" name="sdc-title">
            <a:extLst xmlns:a="http://schemas.openxmlformats.org/drawingml/2006/main">
              <a:ext uri="{FF2B5EF4-FFF2-40B4-BE49-F238E27FC236}">
                <a16:creationId xmlns:a16="http://schemas.microsoft.com/office/drawing/2014/main" id="{17377E21-3F35-4C3C-8BDE-9961279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24025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模型 SDC：Llama2，匹配参考对照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1C33A-9E3D-484F-B2FE-06F65EDF7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566d68310450b"/>
          <a:stretch xmlns:a="http://schemas.openxmlformats.org/drawingml/2006/main"/>
        </p:blipFill>
        <p:spPr>
          <a:xfrm xmlns:a="http://schemas.openxmlformats.org/drawingml/2006/main">
            <a:off x="609600" y="2277472"/>
            <a:ext cx="6838950" cy="405565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24FA-9727-46F9-ABCF-0F875CC5A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0904ffc7f4354"/>
          <a:stretch xmlns:a="http://schemas.openxmlformats.org/drawingml/2006/main"/>
        </p:blipFill>
        <p:spPr>
          <a:xfrm xmlns:a="http://schemas.openxmlformats.org/drawingml/2006/main">
            <a:off x="8001000" y="2279465"/>
            <a:ext cx="6629400" cy="3623044"/>
          </a:xfrm>
          <a:prstGeom xmlns:a="http://schemas.openxmlformats.org/drawingml/2006/main" prst="rect">
            <a:avLst/>
          </a:prstGeom>
        </p:spPr>
      </p:pic>
      <p:sp>
        <p:nvSpPr>
          <p:cNvPr id="7" name="operator-explainer">
            <a:extLst xmlns:a="http://schemas.openxmlformats.org/drawingml/2006/main">
              <a:ext uri="{FF2B5EF4-FFF2-40B4-BE49-F238E27FC236}">
                <a16:creationId xmlns:a16="http://schemas.microsoft.com/office/drawing/2014/main" id="{07754953-2258-4950-832A-9A5341A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389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420/420 是 CSV 记录数：每卡 210 条。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检测错误 0，作业总耗时 1.99 分钟。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选择区决定本次请求，历史报告说明实际结果。</a:t>
            </a:r>
          </a:p>
        </p:txBody>
      </p:sp>
      <p:sp>
        <p:nvSpPr>
          <p:cNvPr id="8" name="sdc-explainer">
            <a:extLst xmlns:a="http://schemas.openxmlformats.org/drawingml/2006/main">
              <a:ext uri="{FF2B5EF4-FFF2-40B4-BE49-F238E27FC236}">
                <a16:creationId xmlns:a16="http://schemas.microsoft.com/office/drawing/2014/main" id="{9ECC0D65-634E-426C-A981-BF4AC82D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86500"/>
            <a:ext cx="66294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compare 比较步数 72，检测错误 0。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保存步数 0 是对照任务的正常表现。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首次：单卡生成参考，再切回 SDC 对照。</a:t>
            </a:r>
          </a:p>
        </p:txBody>
      </p:sp>
      <p:sp>
        <p:nvSpPr>
          <p:cNvPr id="9" name="sdc-warning">
            <a:extLst xmlns:a="http://schemas.openxmlformats.org/drawingml/2006/main">
              <a:ext uri="{FF2B5EF4-FFF2-40B4-BE49-F238E27FC236}">
                <a16:creationId xmlns:a16="http://schemas.microsoft.com/office/drawing/2014/main" id="{7A3EEE4E-3441-4CE8-9428-6052E3E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72375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生成参考成功 ≠ SDC 检测通过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01CA799-B5EB-48D6-80B5-B376752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作业日期 2026-10-13；历史结果仅对当时的镜像、参数和参考有效。启用 Run/Cancel 的 Web 只对可信网络开放。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95D7A8E5-486B-4FE6-B269-8F82452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0024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C8061B-36C9-4C01-90EC-1E2C937F6B5E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0953750" y="6800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BD60A5-D859-4C13-B7B1-4A03AEC4CA9C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296150" y="6800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8D2BFA-598B-4ED4-A755-A5CA0BF8A58F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638550" y="68008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D9991-E2E6-4426-96B8-4E29042511E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1715750" y="31242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580A7-8644-454E-881B-384CACEF640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01100" y="31242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6AB9A-B031-440B-93D2-86CA460A3F5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86450" y="31242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107FE-8793-40F4-A7EA-02F2D31381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31242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sp>
        <p:nvSpPr>
          <p:cNvPr id="46" name="title">
            <a:extLst xmlns:a="http://schemas.openxmlformats.org/drawingml/2006/main">
              <a:ext uri="{FF2B5EF4-FFF2-40B4-BE49-F238E27FC236}">
                <a16:creationId xmlns:a16="http://schemas.microsoft.com/office/drawing/2014/main" id="{52A531E9-B5E1-48D3-8201-75A8F3DC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部署流程：配套交付到首次作业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9E3FA3-E578-4717-A324-067F964A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已有成品镜像时，目标节点无需重新编译。A2 / A3 分别选择与驱动兼容的 NPU 软件栈。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49F8B01-35DB-4886-B0D7-0AC326F8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19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87 已有服务时保留旧实例，独立名称、目录、卷与端口。只换 Compose 项目名不能解决 host 网络端口冲突。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64E72A0-2CD7-48AB-A991-4ADAF720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delivery-flow-node">
            <a:extLst xmlns:a="http://schemas.openxmlformats.org/drawingml/2006/main">
              <a:ext uri="{FF2B5EF4-FFF2-40B4-BE49-F238E27FC236}">
                <a16:creationId xmlns:a16="http://schemas.microsoft.com/office/drawing/2014/main" id="{F8B10ADC-4D14-44C3-9857-7B2939B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6" name="delivery-title">
            <a:extLst xmlns:a="http://schemas.openxmlformats.org/drawingml/2006/main">
              <a:ext uri="{FF2B5EF4-FFF2-40B4-BE49-F238E27FC236}">
                <a16:creationId xmlns:a16="http://schemas.microsoft.com/office/drawing/2014/main" id="{955D71B4-693F-4EAC-B001-A6DCF77C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1 取得配套交付</a:t>
            </a:r>
          </a:p>
        </p:txBody>
      </p:sp>
      <p:sp>
        <p:nvSpPr>
          <p:cNvPr id="7" name="delivery-body">
            <a:extLst xmlns:a="http://schemas.openxmlformats.org/drawingml/2006/main">
              <a:ext uri="{FF2B5EF4-FFF2-40B4-BE49-F238E27FC236}">
                <a16:creationId xmlns:a16="http://schemas.microsoft.com/office/drawing/2014/main" id="{76FBE669-67AD-4F28-962E-F449412D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固定 Git commit</a:t>
            </a:r>
          </a:p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pull 或 save/load</a:t>
            </a:r>
          </a:p>
        </p:txBody>
      </p:sp>
      <p:sp>
        <p:nvSpPr>
          <p:cNvPr id="8" name="host-flow-node">
            <a:extLst xmlns:a="http://schemas.openxmlformats.org/drawingml/2006/main">
              <a:ext uri="{FF2B5EF4-FFF2-40B4-BE49-F238E27FC236}">
                <a16:creationId xmlns:a16="http://schemas.microsoft.com/office/drawing/2014/main" id="{626DA420-20F5-4933-9437-AFE2925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9" name="host-title">
            <a:extLst xmlns:a="http://schemas.openxmlformats.org/drawingml/2006/main">
              <a:ext uri="{FF2B5EF4-FFF2-40B4-BE49-F238E27FC236}">
                <a16:creationId xmlns:a16="http://schemas.microsoft.com/office/drawing/2014/main" id="{7EF32225-BEC0-4EC2-AC8B-801E4C11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43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2 核对节点条件</a:t>
            </a:r>
          </a:p>
        </p:txBody>
      </p:sp>
      <p:sp>
        <p:nvSpPr>
          <p:cNvPr id="10" name="host-body">
            <a:extLst xmlns:a="http://schemas.openxmlformats.org/drawingml/2006/main">
              <a:ext uri="{FF2B5EF4-FFF2-40B4-BE49-F238E27FC236}">
                <a16:creationId xmlns:a16="http://schemas.microsoft.com/office/drawing/2014/main" id="{44237122-D9A5-4EB7-80ED-82674F2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架构、驱动、空间</a:t>
            </a:r>
          </a:p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设备授权、端口</a:t>
            </a:r>
          </a:p>
        </p:txBody>
      </p:sp>
      <p:sp>
        <p:nvSpPr>
          <p:cNvPr id="11" name="generator-flow-node">
            <a:extLst xmlns:a="http://schemas.openxmlformats.org/drawingml/2006/main">
              <a:ext uri="{FF2B5EF4-FFF2-40B4-BE49-F238E27FC236}">
                <a16:creationId xmlns:a16="http://schemas.microsoft.com/office/drawing/2014/main" id="{CDDE569C-4C02-4F83-AC83-CD442A68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2" name="generator-title">
            <a:extLst xmlns:a="http://schemas.openxmlformats.org/drawingml/2006/main">
              <a:ext uri="{FF2B5EF4-FFF2-40B4-BE49-F238E27FC236}">
                <a16:creationId xmlns:a16="http://schemas.microsoft.com/office/drawing/2014/main" id="{E46D684A-112B-4D85-B938-EE373EF0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3 生成节点配置</a:t>
            </a:r>
          </a:p>
        </p:txBody>
      </p:sp>
      <p:sp>
        <p:nvSpPr>
          <p:cNvPr id="13" name="generator-body">
            <a:extLst xmlns:a="http://schemas.openxmlformats.org/drawingml/2006/main">
              <a:ext uri="{FF2B5EF4-FFF2-40B4-BE49-F238E27FC236}">
                <a16:creationId xmlns:a16="http://schemas.microsoft.com/office/drawing/2014/main" id="{9472FE1B-7352-4867-A289-7285E4E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生成 YAML / env</a:t>
            </a:r>
          </a:p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及 Compose overlay</a:t>
            </a:r>
          </a:p>
        </p:txBody>
      </p:sp>
      <p:sp>
        <p:nvSpPr>
          <p:cNvPr id="14" name="compose-flow-node">
            <a:extLst xmlns:a="http://schemas.openxmlformats.org/drawingml/2006/main">
              <a:ext uri="{FF2B5EF4-FFF2-40B4-BE49-F238E27FC236}">
                <a16:creationId xmlns:a16="http://schemas.microsoft.com/office/drawing/2014/main" id="{ED351E4F-419A-491E-BDBD-7E6C197E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5" name="compose-title">
            <a:extLst xmlns:a="http://schemas.openxmlformats.org/drawingml/2006/main">
              <a:ext uri="{FF2B5EF4-FFF2-40B4-BE49-F238E27FC236}">
                <a16:creationId xmlns:a16="http://schemas.microsoft.com/office/drawing/2014/main" id="{7A5F258A-3060-4B09-B206-9F22EF3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43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4 启动所需服务</a:t>
            </a:r>
          </a:p>
        </p:txBody>
      </p:sp>
      <p:sp>
        <p:nvSpPr>
          <p:cNvPr id="16" name="compose-body">
            <a:extLst xmlns:a="http://schemas.openxmlformats.org/drawingml/2006/main">
              <a:ext uri="{FF2B5EF4-FFF2-40B4-BE49-F238E27FC236}">
                <a16:creationId xmlns:a16="http://schemas.microsoft.com/office/drawing/2014/main" id="{79D269EF-ED9E-474F-8358-71C215CD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合并 Compose</a:t>
            </a:r>
          </a:p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启用压测 profile</a:t>
            </a:r>
          </a:p>
        </p:txBody>
      </p:sp>
      <p:sp>
        <p:nvSpPr>
          <p:cNvPr id="17" name="doctor-flow-node">
            <a:extLst xmlns:a="http://schemas.openxmlformats.org/drawingml/2006/main">
              <a:ext uri="{FF2B5EF4-FFF2-40B4-BE49-F238E27FC236}">
                <a16:creationId xmlns:a16="http://schemas.microsoft.com/office/drawing/2014/main" id="{CFF66177-E3F1-4E26-89D9-4FF1D5A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81250"/>
            <a:ext cx="2362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8" name="doctor-title">
            <a:extLst xmlns:a="http://schemas.openxmlformats.org/drawingml/2006/main">
              <a:ext uri="{FF2B5EF4-FFF2-40B4-BE49-F238E27FC236}">
                <a16:creationId xmlns:a16="http://schemas.microsoft.com/office/drawing/2014/main" id="{5B91ABDD-0A55-4CF8-80BB-036900FC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543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5 检查部署</a:t>
            </a:r>
          </a:p>
        </p:txBody>
      </p:sp>
      <p:sp>
        <p:nvSpPr>
          <p:cNvPr id="19" name="doctor-body">
            <a:extLst xmlns:a="http://schemas.openxmlformats.org/drawingml/2006/main">
              <a:ext uri="{FF2B5EF4-FFF2-40B4-BE49-F238E27FC236}">
                <a16:creationId xmlns:a16="http://schemas.microsoft.com/office/drawing/2014/main" id="{78B5DB8B-1D9A-4767-BA1E-BD8567D4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9527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doctor / snapshot</a:t>
            </a:r>
          </a:p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Web 与配置 API</a:t>
            </a:r>
          </a:p>
        </p:txBody>
      </p:sp>
      <p:sp>
        <p:nvSpPr>
          <p:cNvPr id="24" name="delivery-detail">
            <a:extLst xmlns:a="http://schemas.openxmlformats.org/drawingml/2006/main">
              <a:ext uri="{FF2B5EF4-FFF2-40B4-BE49-F238E27FC236}">
                <a16:creationId xmlns:a16="http://schemas.microsoft.com/office/drawing/2014/main" id="{CA94285D-B28D-4567-8C7F-2FFA4125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在线：pull 固定镜像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离线：校验 tar 与 ID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卷与临时补丁另行管理</a:t>
            </a:r>
          </a:p>
        </p:txBody>
      </p:sp>
      <p:sp>
        <p:nvSpPr>
          <p:cNvPr id="25" name="host-detail">
            <a:extLst xmlns:a="http://schemas.openxmlformats.org/drawingml/2006/main">
              <a:ext uri="{FF2B5EF4-FFF2-40B4-BE49-F238E27FC236}">
                <a16:creationId xmlns:a16="http://schemas.microsoft.com/office/drawing/2014/main" id="{8DFB666B-4F78-4AF4-954D-7476E47B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已有业务先保留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宿主节点 ≠ logical ID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映射范围须获授权</a:t>
            </a:r>
          </a:p>
        </p:txBody>
      </p:sp>
      <p:sp>
        <p:nvSpPr>
          <p:cNvPr id="26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33B60369-3017-4C95-904B-83B03FC7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配置在目标节点生成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不照搬 85 的 A2 设备号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A3 保留完整配置</a:t>
            </a:r>
          </a:p>
        </p:txBody>
      </p:sp>
      <p:sp>
        <p:nvSpPr>
          <p:cNvPr id="27" name="compose-detail">
            <a:extLst xmlns:a="http://schemas.openxmlformats.org/drawingml/2006/main">
              <a:ext uri="{FF2B5EF4-FFF2-40B4-BE49-F238E27FC236}">
                <a16:creationId xmlns:a16="http://schemas.microsoft.com/office/drawing/2014/main" id="{B999B82C-0F32-4C6D-AB0A-172E4B54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957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base + npu + stress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+ generated overlay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generated 不能单独启动</a:t>
            </a:r>
          </a:p>
        </p:txBody>
      </p:sp>
      <p:sp>
        <p:nvSpPr>
          <p:cNvPr id="28" name="doctor-detail">
            <a:extLst xmlns:a="http://schemas.openxmlformats.org/drawingml/2006/main">
              <a:ext uri="{FF2B5EF4-FFF2-40B4-BE49-F238E27FC236}">
                <a16:creationId xmlns:a16="http://schemas.microsoft.com/office/drawing/2014/main" id="{41B337B4-D7B0-49E5-B99C-930B2C2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0957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检查真实 preflight 字段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失败即停，不跳过门禁</a:t>
            </a:r>
          </a:p>
          <a:p xmlns:a="http://schemas.openxmlformats.org/drawingml/2006/main">
            <a:pPr algn="l">
              <a:def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通过不等于硬件实测通过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85167-A06C-4D39-B9E7-2BC24508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BE4"/>
            </a:solidFill>
          </a:ln>
        </p:spPr>
      </p:sp>
      <p:sp>
        <p:nvSpPr>
          <p:cNvPr id="30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A987AEC2-ECC9-44CA-BC51-44E5E03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首次作业验收</a:t>
            </a:r>
          </a:p>
        </p:txBody>
      </p:sp>
      <p:sp>
        <p:nvSpPr>
          <p:cNvPr id="31" name="idle-flow-node">
            <a:extLst xmlns:a="http://schemas.openxmlformats.org/drawingml/2006/main">
              <a:ext uri="{FF2B5EF4-FFF2-40B4-BE49-F238E27FC236}">
                <a16:creationId xmlns:a16="http://schemas.microsoft.com/office/drawing/2014/main" id="{DCE5ADBC-35B2-4AF2-A952-8AF3B6A9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028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2" name="idle-title">
            <a:extLst xmlns:a="http://schemas.openxmlformats.org/drawingml/2006/main">
              <a:ext uri="{FF2B5EF4-FFF2-40B4-BE49-F238E27FC236}">
                <a16:creationId xmlns:a16="http://schemas.microsoft.com/office/drawing/2014/main" id="{75F4A3AF-A09A-42E6-8687-F0A1102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确认设备空闲</a:t>
            </a:r>
          </a:p>
        </p:txBody>
      </p:sp>
      <p:sp>
        <p:nvSpPr>
          <p:cNvPr id="33" name="idle-body">
            <a:extLst xmlns:a="http://schemas.openxmlformats.org/drawingml/2006/main">
              <a:ext uri="{FF2B5EF4-FFF2-40B4-BE49-F238E27FC236}">
                <a16:creationId xmlns:a16="http://schemas.microsoft.com/office/drawing/2014/main" id="{BFA2B91C-A7A1-4670-BBA7-82B6924F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业务忙则等待维护窗口</a:t>
            </a:r>
          </a:p>
        </p:txBody>
      </p:sp>
      <p:sp>
        <p:nvSpPr>
          <p:cNvPr id="34" name="submit-flow-node">
            <a:extLst xmlns:a="http://schemas.openxmlformats.org/drawingml/2006/main">
              <a:ext uri="{FF2B5EF4-FFF2-40B4-BE49-F238E27FC236}">
                <a16:creationId xmlns:a16="http://schemas.microsoft.com/office/drawing/2014/main" id="{B6A09C4A-A9BD-43F0-9C54-670D5AE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191250"/>
            <a:ext cx="3028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5" name="submit-title">
            <a:extLst xmlns:a="http://schemas.openxmlformats.org/drawingml/2006/main">
              <a:ext uri="{FF2B5EF4-FFF2-40B4-BE49-F238E27FC236}">
                <a16:creationId xmlns:a16="http://schemas.microsoft.com/office/drawing/2014/main" id="{19C0C912-B9E6-452A-B833-15DDC5D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531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CLI / Web 提交</a:t>
            </a:r>
          </a:p>
        </p:txBody>
      </p:sp>
      <p:sp>
        <p:nvSpPr>
          <p:cNvPr id="36" name="submit-body">
            <a:extLst xmlns:a="http://schemas.openxmlformats.org/drawingml/2006/main">
              <a:ext uri="{FF2B5EF4-FFF2-40B4-BE49-F238E27FC236}">
                <a16:creationId xmlns:a16="http://schemas.microsoft.com/office/drawing/2014/main" id="{79E6145B-0352-4C58-838E-AAD108F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7627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沿用唯一 Controller</a:t>
            </a:r>
          </a:p>
        </p:txBody>
      </p:sp>
      <p:sp>
        <p:nvSpPr>
          <p:cNvPr id="37" name="result-flow-node">
            <a:extLst xmlns:a="http://schemas.openxmlformats.org/drawingml/2006/main">
              <a:ext uri="{FF2B5EF4-FFF2-40B4-BE49-F238E27FC236}">
                <a16:creationId xmlns:a16="http://schemas.microsoft.com/office/drawing/2014/main" id="{B009A645-63A0-4A8A-9137-CB7929FC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91250"/>
            <a:ext cx="3028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8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B51BBF99-8774-4C81-AE80-52871A9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3531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核对本轮结果</a:t>
            </a:r>
          </a:p>
        </p:txBody>
      </p:sp>
      <p:sp>
        <p:nvSpPr>
          <p:cNvPr id="39" name="result-body">
            <a:extLst xmlns:a="http://schemas.openxmlformats.org/drawingml/2006/main">
              <a:ext uri="{FF2B5EF4-FFF2-40B4-BE49-F238E27FC236}">
                <a16:creationId xmlns:a16="http://schemas.microsoft.com/office/drawing/2014/main" id="{BF0DEC0B-E528-4C45-85DA-79F6F65F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7627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请求与 CSV 一致，错误为 0</a:t>
            </a:r>
          </a:p>
        </p:txBody>
      </p:sp>
      <p:sp>
        <p:nvSpPr>
          <p:cNvPr id="40" name="cancel-flow-node">
            <a:extLst xmlns:a="http://schemas.openxmlformats.org/drawingml/2006/main">
              <a:ext uri="{FF2B5EF4-FFF2-40B4-BE49-F238E27FC236}">
                <a16:creationId xmlns:a16="http://schemas.microsoft.com/office/drawing/2014/main" id="{E804BE74-1F6A-42D0-AD1D-B00BFF0C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191250"/>
            <a:ext cx="304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1" name="cancel-title">
            <a:extLst xmlns:a="http://schemas.openxmlformats.org/drawingml/2006/main">
              <a:ext uri="{FF2B5EF4-FFF2-40B4-BE49-F238E27FC236}">
                <a16:creationId xmlns:a16="http://schemas.microsoft.com/office/drawing/2014/main" id="{D67DBDF0-B76D-44E8-800D-58AE884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353175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验证 Cancel</a:t>
            </a:r>
          </a:p>
        </p:txBody>
      </p:sp>
      <p:sp>
        <p:nvSpPr>
          <p:cNvPr id="42" name="cancel-body">
            <a:extLst xmlns:a="http://schemas.openxmlformats.org/drawingml/2006/main">
              <a:ext uri="{FF2B5EF4-FFF2-40B4-BE49-F238E27FC236}">
                <a16:creationId xmlns:a16="http://schemas.microsoft.com/office/drawing/2014/main" id="{A5B77920-A0E7-43E7-89B6-5E4DC431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7627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按 Job ID 取消并检查清理</a:t>
            </a:r>
          </a:p>
        </p:txBody>
      </p:sp>
    </p:spTree>
    <p:extLst>
      <p:ext uri="{BB962C8B-B14F-4D97-AF65-F5344CB8AC3E}">
        <p14:creationId xmlns:p14="http://schemas.microsoft.com/office/powerpoint/2010/main" val="1376438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A4F874-A8AB-4C8E-AB57-EC69CE7181CA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10953750" y="7243763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7F703A-4FC0-417E-AFA0-9E792E3567A9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296150" y="7243763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01EF2E-E4A3-4316-AA03-D89E183DC561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638550" y="7243763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0E707C-D713-46FA-B6BA-4A394FA1B999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0287000" y="552926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AFEEAB-5DB0-4B3E-98D2-343B26B8D4F1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238500" y="552926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E9B9E-1E89-4B30-961A-49990782878B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287000" y="42243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E00AC-2B94-4BC6-B34D-9A64DEF34F7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238500" y="4224338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86C90-2CF8-4EFE-83F0-5A2126E4D0E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287000" y="29194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A5857-6628-421D-84C3-F8972B32DDE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38500" y="2919413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sp>
        <p:nvSpPr>
          <p:cNvPr id="57" name="title">
            <a:extLst xmlns:a="http://schemas.openxmlformats.org/drawingml/2006/main">
              <a:ext uri="{FF2B5EF4-FFF2-40B4-BE49-F238E27FC236}">
                <a16:creationId xmlns:a16="http://schemas.microsoft.com/office/drawing/2014/main" id="{C1266250-7591-4FF7-BED9-79CA85E4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压测功能修改：代码、测试与镜像更新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0DCB91-0764-479D-B7CF-005AF7C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新增能力、修复运行逻辑或升级依赖时，按改动范围重建镜像。已部署容器不临时覆盖源码或 wheel。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AA31E97-7062-4EC7-805B-9BE2D9CD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19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先固定源码、patch/profile 和镜像身份。候选验收通过再切换，保留旧镜像与配置供回滚。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AD0CA50-38A0-4928-900E-6EA32F9A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scope-col">
            <a:extLst xmlns:a="http://schemas.openxmlformats.org/drawingml/2006/main">
              <a:ext uri="{FF2B5EF4-FFF2-40B4-BE49-F238E27FC236}">
                <a16:creationId xmlns:a16="http://schemas.microsoft.com/office/drawing/2014/main" id="{B4BB6BD7-7EC6-4D08-82A8-143BC78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修改范围</a:t>
            </a:r>
          </a:p>
        </p:txBody>
      </p:sp>
      <p:sp>
        <p:nvSpPr>
          <p:cNvPr id="6" name="code-col">
            <a:extLst xmlns:a="http://schemas.openxmlformats.org/drawingml/2006/main">
              <a:ext uri="{FF2B5EF4-FFF2-40B4-BE49-F238E27FC236}">
                <a16:creationId xmlns:a16="http://schemas.microsoft.com/office/drawing/2014/main" id="{3B078F23-57E4-44BE-8337-B7144DF9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526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代码与依赖入口</a:t>
            </a:r>
          </a:p>
        </p:txBody>
      </p:sp>
      <p:sp>
        <p:nvSpPr>
          <p:cNvPr id="7" name="image-col">
            <a:extLst xmlns:a="http://schemas.openxmlformats.org/drawingml/2006/main">
              <a:ext uri="{FF2B5EF4-FFF2-40B4-BE49-F238E27FC236}">
                <a16:creationId xmlns:a16="http://schemas.microsoft.com/office/drawing/2014/main" id="{E17EADB3-C129-4422-91ED-AA12E7D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752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受影响的构建产物</a:t>
            </a:r>
          </a:p>
        </p:txBody>
      </p:sp>
      <p:sp>
        <p:nvSpPr>
          <p:cNvPr id="8" name="control-scope-flow-node">
            <a:extLst xmlns:a="http://schemas.openxmlformats.org/drawingml/2006/main">
              <a:ext uri="{FF2B5EF4-FFF2-40B4-BE49-F238E27FC236}">
                <a16:creationId xmlns:a16="http://schemas.microsoft.com/office/drawing/2014/main" id="{6C2A0839-03F7-49B5-8686-DFC19A5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6289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9" name="control-scope-title">
            <a:extLst xmlns:a="http://schemas.openxmlformats.org/drawingml/2006/main">
              <a:ext uri="{FF2B5EF4-FFF2-40B4-BE49-F238E27FC236}">
                <a16:creationId xmlns:a16="http://schemas.microsoft.com/office/drawing/2014/main" id="{6C85B44F-695D-4C0F-AB47-C5E2CAC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控制面功能</a:t>
            </a:r>
          </a:p>
        </p:txBody>
      </p:sp>
      <p:sp>
        <p:nvSpPr>
          <p:cNvPr id="10" name="control-scope-body">
            <a:extLst xmlns:a="http://schemas.openxmlformats.org/drawingml/2006/main">
              <a:ext uri="{FF2B5EF4-FFF2-40B4-BE49-F238E27FC236}">
                <a16:creationId xmlns:a16="http://schemas.microsoft.com/office/drawing/2014/main" id="{81BDCCA7-0C59-4240-A2F3-E7BF36F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CLI / Web / Controller</a:t>
            </a:r>
          </a:p>
        </p:txBody>
      </p:sp>
      <p:sp>
        <p:nvSpPr>
          <p:cNvPr id="11" name="control-code-flow-node">
            <a:extLst xmlns:a="http://schemas.openxmlformats.org/drawingml/2006/main">
              <a:ext uri="{FF2B5EF4-FFF2-40B4-BE49-F238E27FC236}">
                <a16:creationId xmlns:a16="http://schemas.microsoft.com/office/drawing/2014/main" id="{5FAC4535-7C46-4FA1-841B-D61F18A7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65341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2" name="control-code-title">
            <a:extLst xmlns:a="http://schemas.openxmlformats.org/drawingml/2006/main">
              <a:ext uri="{FF2B5EF4-FFF2-40B4-BE49-F238E27FC236}">
                <a16:creationId xmlns:a16="http://schemas.microsoft.com/office/drawing/2014/main" id="{0066DA2E-42E7-4418-BABF-7326E6D7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86025"/>
            <a:ext cx="622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公开源码中的正式实现</a:t>
            </a:r>
          </a:p>
        </p:txBody>
      </p:sp>
      <p:sp>
        <p:nvSpPr>
          <p:cNvPr id="13" name="control-code-body">
            <a:extLst xmlns:a="http://schemas.openxmlformats.org/drawingml/2006/main">
              <a:ext uri="{FF2B5EF4-FFF2-40B4-BE49-F238E27FC236}">
                <a16:creationId xmlns:a16="http://schemas.microsoft.com/office/drawing/2014/main" id="{EA595749-C0AC-4D32-ADBE-11B239F9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5600"/>
            <a:ext cx="622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请求校验、作业协议、页面与报告</a:t>
            </a:r>
          </a:p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保持唯一 Controller 调用链</a:t>
            </a:r>
          </a:p>
        </p:txBody>
      </p:sp>
      <p:sp>
        <p:nvSpPr>
          <p:cNvPr id="14" name="control-image-flow-node">
            <a:extLst xmlns:a="http://schemas.openxmlformats.org/drawingml/2006/main">
              <a:ext uri="{FF2B5EF4-FFF2-40B4-BE49-F238E27FC236}">
                <a16:creationId xmlns:a16="http://schemas.microsoft.com/office/drawing/2014/main" id="{496D9621-9AAB-4C4F-94FC-FC53B74C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24100"/>
            <a:ext cx="3829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5" name="control-image-title">
            <a:extLst xmlns:a="http://schemas.openxmlformats.org/drawingml/2006/main">
              <a:ext uri="{FF2B5EF4-FFF2-40B4-BE49-F238E27FC236}">
                <a16:creationId xmlns:a16="http://schemas.microsoft.com/office/drawing/2014/main" id="{15D0C7CC-26B6-470A-A4F8-AFACB73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860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Control 镜像</a:t>
            </a:r>
          </a:p>
        </p:txBody>
      </p:sp>
      <p:sp>
        <p:nvSpPr>
          <p:cNvPr id="16" name="control-image-body">
            <a:extLst xmlns:a="http://schemas.openxmlformats.org/drawingml/2006/main">
              <a:ext uri="{FF2B5EF4-FFF2-40B4-BE49-F238E27FC236}">
                <a16:creationId xmlns:a16="http://schemas.microsoft.com/office/drawing/2014/main" id="{54BFEA5B-2C06-4F58-95EA-D0EAC27F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956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docker/build.sh npu</a:t>
            </a:r>
          </a:p>
        </p:txBody>
      </p:sp>
      <p:sp>
        <p:nvSpPr>
          <p:cNvPr id="19" name="cpu-scope-flow-node">
            <a:extLst xmlns:a="http://schemas.openxmlformats.org/drawingml/2006/main">
              <a:ext uri="{FF2B5EF4-FFF2-40B4-BE49-F238E27FC236}">
                <a16:creationId xmlns:a16="http://schemas.microsoft.com/office/drawing/2014/main" id="{AF37F790-D776-43BD-98BE-228C28A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26289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0" name="cpu-scope-title">
            <a:extLst xmlns:a="http://schemas.openxmlformats.org/drawingml/2006/main">
              <a:ext uri="{FF2B5EF4-FFF2-40B4-BE49-F238E27FC236}">
                <a16:creationId xmlns:a16="http://schemas.microsoft.com/office/drawing/2014/main" id="{F23854AE-75E2-46FD-BB32-007F05A0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CPU 执行功能</a:t>
            </a:r>
          </a:p>
        </p:txBody>
      </p:sp>
      <p:sp>
        <p:nvSpPr>
          <p:cNvPr id="21" name="cpu-scope-body">
            <a:extLst xmlns:a="http://schemas.openxmlformats.org/drawingml/2006/main">
              <a:ext uri="{FF2B5EF4-FFF2-40B4-BE49-F238E27FC236}">
                <a16:creationId xmlns:a16="http://schemas.microsoft.com/office/drawing/2014/main" id="{73EE9FB4-BA48-448A-931C-41CE09F2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cpu-code-flow-node">
            <a:extLst xmlns:a="http://schemas.openxmlformats.org/drawingml/2006/main">
              <a:ext uri="{FF2B5EF4-FFF2-40B4-BE49-F238E27FC236}">
                <a16:creationId xmlns:a16="http://schemas.microsoft.com/office/drawing/2014/main" id="{96C1265A-ECDC-4348-9748-2D6D8A01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29025"/>
            <a:ext cx="65341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3" name="cpu-code-title">
            <a:extLst xmlns:a="http://schemas.openxmlformats.org/drawingml/2006/main">
              <a:ext uri="{FF2B5EF4-FFF2-40B4-BE49-F238E27FC236}">
                <a16:creationId xmlns:a16="http://schemas.microsoft.com/office/drawing/2014/main" id="{5071C306-2AE7-4495-A572-B25C6D98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622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执行组件与基础依赖</a:t>
            </a:r>
          </a:p>
        </p:txBody>
      </p:sp>
      <p:sp>
        <p:nvSpPr>
          <p:cNvPr id="24" name="cpu-code-body">
            <a:extLst xmlns:a="http://schemas.openxmlformats.org/drawingml/2006/main">
              <a:ext uri="{FF2B5EF4-FFF2-40B4-BE49-F238E27FC236}">
                <a16:creationId xmlns:a16="http://schemas.microsoft.com/office/drawing/2014/main" id="{F5B6F5E8-6382-4170-87CD-E171BE75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00525"/>
            <a:ext cx="622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CPU plugin / workload executor</a:t>
            </a:r>
          </a:p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STREAM、HPL、HPCG 及运行依赖</a:t>
            </a:r>
          </a:p>
        </p:txBody>
      </p:sp>
      <p:sp>
        <p:nvSpPr>
          <p:cNvPr id="25" name="cpu-image-flow-node">
            <a:extLst xmlns:a="http://schemas.openxmlformats.org/drawingml/2006/main">
              <a:ext uri="{FF2B5EF4-FFF2-40B4-BE49-F238E27FC236}">
                <a16:creationId xmlns:a16="http://schemas.microsoft.com/office/drawing/2014/main" id="{1B00CF2D-22DB-48E0-A185-044B711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629025"/>
            <a:ext cx="3829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6" name="cpu-image-title">
            <a:extLst xmlns:a="http://schemas.openxmlformats.org/drawingml/2006/main">
              <a:ext uri="{FF2B5EF4-FFF2-40B4-BE49-F238E27FC236}">
                <a16:creationId xmlns:a16="http://schemas.microsoft.com/office/drawing/2014/main" id="{FBED5E1E-5792-4F9A-888B-CC83924B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CPU workload 镜像</a:t>
            </a:r>
          </a:p>
        </p:txBody>
      </p:sp>
      <p:sp>
        <p:nvSpPr>
          <p:cNvPr id="27" name="cpu-image-body">
            <a:extLst xmlns:a="http://schemas.openxmlformats.org/drawingml/2006/main">
              <a:ext uri="{FF2B5EF4-FFF2-40B4-BE49-F238E27FC236}">
                <a16:creationId xmlns:a16="http://schemas.microsoft.com/office/drawing/2014/main" id="{E1DBC2EC-A061-4500-B6E1-E55D19CE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005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CPU build 脚本</a:t>
            </a:r>
          </a:p>
        </p:txBody>
      </p:sp>
      <p:sp>
        <p:nvSpPr>
          <p:cNvPr id="30" name="npu-scope-flow-node">
            <a:extLst xmlns:a="http://schemas.openxmlformats.org/drawingml/2006/main">
              <a:ext uri="{FF2B5EF4-FFF2-40B4-BE49-F238E27FC236}">
                <a16:creationId xmlns:a16="http://schemas.microsoft.com/office/drawing/2014/main" id="{8714117E-8BBE-4B1D-895E-FC7CB700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6289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1" name="npu-scope-title">
            <a:extLst xmlns:a="http://schemas.openxmlformats.org/drawingml/2006/main">
              <a:ext uri="{FF2B5EF4-FFF2-40B4-BE49-F238E27FC236}">
                <a16:creationId xmlns:a16="http://schemas.microsoft.com/office/drawing/2014/main" id="{114332B6-4379-48CE-A9CB-A2968AE0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NPU / 模型功能</a:t>
            </a:r>
          </a:p>
        </p:txBody>
      </p:sp>
      <p:sp>
        <p:nvSpPr>
          <p:cNvPr id="32" name="npu-scope-body">
            <a:extLst xmlns:a="http://schemas.openxmlformats.org/drawingml/2006/main">
              <a:ext uri="{FF2B5EF4-FFF2-40B4-BE49-F238E27FC236}">
                <a16:creationId xmlns:a16="http://schemas.microsoft.com/office/drawing/2014/main" id="{F1357096-A2D6-44E5-8D73-0C0641BC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npu-code-flow-node">
            <a:extLst xmlns:a="http://schemas.openxmlformats.org/drawingml/2006/main">
              <a:ext uri="{FF2B5EF4-FFF2-40B4-BE49-F238E27FC236}">
                <a16:creationId xmlns:a16="http://schemas.microsoft.com/office/drawing/2014/main" id="{25AFE453-69AE-40BF-A313-E6486D9E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33950"/>
            <a:ext cx="65341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4" name="npu-code-title">
            <a:extLst xmlns:a="http://schemas.openxmlformats.org/drawingml/2006/main">
              <a:ext uri="{FF2B5EF4-FFF2-40B4-BE49-F238E27FC236}">
                <a16:creationId xmlns:a16="http://schemas.microsoft.com/office/drawing/2014/main" id="{14249E4B-3D35-4AA7-9ADB-79C998E5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95875"/>
            <a:ext cx="622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完整源码与受控补丁</a:t>
            </a:r>
          </a:p>
        </p:txBody>
      </p:sp>
      <p:sp>
        <p:nvSpPr>
          <p:cNvPr id="35" name="npu-code-body">
            <a:extLst xmlns:a="http://schemas.openxmlformats.org/drawingml/2006/main">
              <a:ext uri="{FF2B5EF4-FFF2-40B4-BE49-F238E27FC236}">
                <a16:creationId xmlns:a16="http://schemas.microsoft.com/office/drawing/2014/main" id="{0E548AE4-7DE8-4EDF-8B25-EC383950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05450"/>
            <a:ext cx="622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NPU plugin / adapter / Custom Ops</a:t>
            </a:r>
          </a:p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上游变更通过显式 profile + patch 管理</a:t>
            </a:r>
          </a:p>
        </p:txBody>
      </p:sp>
      <p:sp>
        <p:nvSpPr>
          <p:cNvPr id="36" name="npu-image-flow-node">
            <a:extLst xmlns:a="http://schemas.openxmlformats.org/drawingml/2006/main">
              <a:ext uri="{FF2B5EF4-FFF2-40B4-BE49-F238E27FC236}">
                <a16:creationId xmlns:a16="http://schemas.microsoft.com/office/drawing/2014/main" id="{EDE97CFF-9183-4905-A8B1-9AA541B9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933950"/>
            <a:ext cx="3829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7" name="npu-image-title">
            <a:extLst xmlns:a="http://schemas.openxmlformats.org/drawingml/2006/main">
              <a:ext uri="{FF2B5EF4-FFF2-40B4-BE49-F238E27FC236}">
                <a16:creationId xmlns:a16="http://schemas.microsoft.com/office/drawing/2014/main" id="{72345ACA-1779-40DF-A53D-924D378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0958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NPU workload 镜像</a:t>
            </a:r>
          </a:p>
        </p:txBody>
      </p:sp>
      <p:sp>
        <p:nvSpPr>
          <p:cNvPr id="38" name="npu-image-body">
            <a:extLst xmlns:a="http://schemas.openxmlformats.org/drawingml/2006/main">
              <a:ext uri="{FF2B5EF4-FFF2-40B4-BE49-F238E27FC236}">
                <a16:creationId xmlns:a16="http://schemas.microsoft.com/office/drawing/2014/main" id="{9AB938D8-AE1F-4BE1-B80D-253ADEF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5054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build_npu_burn_image.sh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3F02E8-F385-4040-9BA5-C449367F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BE4"/>
            </a:solidFill>
          </a:ln>
        </p:spPr>
      </p:sp>
      <p:sp>
        <p:nvSpPr>
          <p:cNvPr id="42" name="code-tests-flow-node">
            <a:extLst xmlns:a="http://schemas.openxmlformats.org/drawingml/2006/main">
              <a:ext uri="{FF2B5EF4-FFF2-40B4-BE49-F238E27FC236}">
                <a16:creationId xmlns:a16="http://schemas.microsoft.com/office/drawing/2014/main" id="{12CBB6DF-63CF-4CE1-9E61-0BCEBB0C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302895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3" name="code-tests-title">
            <a:extLst xmlns:a="http://schemas.openxmlformats.org/drawingml/2006/main">
              <a:ext uri="{FF2B5EF4-FFF2-40B4-BE49-F238E27FC236}">
                <a16:creationId xmlns:a16="http://schemas.microsoft.com/office/drawing/2014/main" id="{9FFDB350-6D00-4DFE-B63F-2DD8718A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246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回归测试</a:t>
            </a:r>
          </a:p>
        </p:txBody>
      </p:sp>
      <p:sp>
        <p:nvSpPr>
          <p:cNvPr id="44" name="code-tests-body">
            <a:extLst xmlns:a="http://schemas.openxmlformats.org/drawingml/2006/main">
              <a:ext uri="{FF2B5EF4-FFF2-40B4-BE49-F238E27FC236}">
                <a16:creationId xmlns:a16="http://schemas.microsoft.com/office/drawing/2014/main" id="{CA827C5B-3455-4F36-9CA4-159454B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单测、契约、导入与构建检查</a:t>
            </a:r>
          </a:p>
        </p:txBody>
      </p:sp>
      <p:sp>
        <p:nvSpPr>
          <p:cNvPr id="45" name="code-build-flow-node">
            <a:extLst xmlns:a="http://schemas.openxmlformats.org/drawingml/2006/main">
              <a:ext uri="{FF2B5EF4-FFF2-40B4-BE49-F238E27FC236}">
                <a16:creationId xmlns:a16="http://schemas.microsoft.com/office/drawing/2014/main" id="{3A0625AF-DDCE-4874-B086-6529E2DB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762750"/>
            <a:ext cx="302895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6" name="code-build-title">
            <a:extLst xmlns:a="http://schemas.openxmlformats.org/drawingml/2006/main">
              <a:ext uri="{FF2B5EF4-FFF2-40B4-BE49-F238E27FC236}">
                <a16:creationId xmlns:a16="http://schemas.microsoft.com/office/drawing/2014/main" id="{825A077F-0A90-41C3-8B00-B0503B5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9246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新候选镜像</a:t>
            </a:r>
          </a:p>
        </p:txBody>
      </p:sp>
      <p:sp>
        <p:nvSpPr>
          <p:cNvPr id="47" name="code-build-body">
            <a:extLst xmlns:a="http://schemas.openxmlformats.org/drawingml/2006/main">
              <a:ext uri="{FF2B5EF4-FFF2-40B4-BE49-F238E27FC236}">
                <a16:creationId xmlns:a16="http://schemas.microsoft.com/office/drawing/2014/main" id="{04B76DF6-5A64-44AA-991A-DE80B481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34250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记录源码与镜像身份</a:t>
            </a:r>
          </a:p>
        </p:txBody>
      </p:sp>
      <p:sp>
        <p:nvSpPr>
          <p:cNvPr id="48" name="code-switch-flow-node">
            <a:extLst xmlns:a="http://schemas.openxmlformats.org/drawingml/2006/main">
              <a:ext uri="{FF2B5EF4-FFF2-40B4-BE49-F238E27FC236}">
                <a16:creationId xmlns:a16="http://schemas.microsoft.com/office/drawing/2014/main" id="{1B48DF1A-6C17-45D4-AD8E-4FC2710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762750"/>
            <a:ext cx="302895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9" name="code-switch-title">
            <a:extLst xmlns:a="http://schemas.openxmlformats.org/drawingml/2006/main">
              <a:ext uri="{FF2B5EF4-FFF2-40B4-BE49-F238E27FC236}">
                <a16:creationId xmlns:a16="http://schemas.microsoft.com/office/drawing/2014/main" id="{F7F36A0D-2036-4ADE-8897-7094CA46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9246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空闲窗口切换</a:t>
            </a:r>
          </a:p>
        </p:txBody>
      </p:sp>
      <p:sp>
        <p:nvSpPr>
          <p:cNvPr id="50" name="code-switch-body">
            <a:extLst xmlns:a="http://schemas.openxmlformats.org/drawingml/2006/main">
              <a:ext uri="{FF2B5EF4-FFF2-40B4-BE49-F238E27FC236}">
                <a16:creationId xmlns:a16="http://schemas.microsoft.com/office/drawing/2014/main" id="{D903F414-CC10-485B-AFD1-2A706C8B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334250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仅重建受影响的服务</a:t>
            </a:r>
          </a:p>
        </p:txBody>
      </p:sp>
      <p:sp>
        <p:nvSpPr>
          <p:cNvPr id="51" name="code-proof-flow-node">
            <a:extLst xmlns:a="http://schemas.openxmlformats.org/drawingml/2006/main">
              <a:ext uri="{FF2B5EF4-FFF2-40B4-BE49-F238E27FC236}">
                <a16:creationId xmlns:a16="http://schemas.microsoft.com/office/drawing/2014/main" id="{979DF762-1025-4E58-ABFC-CB8EE47A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762750"/>
            <a:ext cx="30480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52" name="code-proof-title">
            <a:extLst xmlns:a="http://schemas.openxmlformats.org/drawingml/2006/main">
              <a:ext uri="{FF2B5EF4-FFF2-40B4-BE49-F238E27FC236}">
                <a16:creationId xmlns:a16="http://schemas.microsoft.com/office/drawing/2014/main" id="{48B31B75-7CA0-4D08-A443-731BEA8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924675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节点验收</a:t>
            </a:r>
          </a:p>
        </p:txBody>
      </p:sp>
      <p:sp>
        <p:nvSpPr>
          <p:cNvPr id="53" name="code-proof-body">
            <a:extLst xmlns:a="http://schemas.openxmlformats.org/drawingml/2006/main">
              <a:ext uri="{FF2B5EF4-FFF2-40B4-BE49-F238E27FC236}">
                <a16:creationId xmlns:a16="http://schemas.microsoft.com/office/drawing/2014/main" id="{5B9EEEE6-955F-45DC-BBEE-47AAF45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7334250"/>
            <a:ext cx="2743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doctor、真实结果与 Cancel</a:t>
            </a:r>
          </a:p>
        </p:txBody>
      </p:sp>
    </p:spTree>
    <p:extLst>
      <p:ext uri="{BB962C8B-B14F-4D97-AF65-F5344CB8AC3E}">
        <p14:creationId xmlns:p14="http://schemas.microsoft.com/office/powerpoint/2010/main" val="541078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FC7985-C610-4BA9-A91E-4914F35631A3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0953750" y="65389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1D8850-E2EC-4166-BF82-B3BEE42EE9E6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7277100" y="65389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ADAE29-1CDD-45E0-AE3C-8CE708B686C7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600450" y="65389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479C8E-7267-4D04-ABB3-05C405B25B74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0953750" y="47863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02041-CAE5-43F4-884A-33BDC8921CF9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277100" y="47863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FAA1BF-AA7E-4B69-887F-1DB9F0F1903C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600450" y="47863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82742-A3E6-48DD-9C31-A27271F0A4D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953750" y="30337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F485C-448E-4B94-BFD0-4E5302E6E65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277100" y="30337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52DC3-8FA7-4A5A-BD57-D4BF0ED0BFA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600450" y="30337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sp>
        <p:nvSpPr>
          <p:cNvPr id="54" name="title">
            <a:extLst xmlns:a="http://schemas.openxmlformats.org/drawingml/2006/main">
              <a:ext uri="{FF2B5EF4-FFF2-40B4-BE49-F238E27FC236}">
                <a16:creationId xmlns:a16="http://schemas.microsoft.com/office/drawing/2014/main" id="{209B8C88-67D7-4B15-9551-3DAEC0C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压测配置调整：三种生效方式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B5BD2A-8714-4FBE-B190-3225760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 Job 选择不改共享配置。管理员变更只在无活动任务时切换，不承诺运行中原子热更新。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1B1281F-1C67-4B0B-A3D8-CA4449CB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19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外部配置不重编镜像，但切换挂载或环境需要重建容器。模型参数、运行栈或 memory mode 改变后重新核对参考。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622CF99-6E7B-4974-9706-9628044D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config-col0">
            <a:extLst xmlns:a="http://schemas.openxmlformats.org/drawingml/2006/main">
              <a:ext uri="{FF2B5EF4-FFF2-40B4-BE49-F238E27FC236}">
                <a16:creationId xmlns:a16="http://schemas.microsoft.com/office/drawing/2014/main" id="{C2B099D7-EC10-45C6-8F61-750286BD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调整什么</a:t>
            </a:r>
          </a:p>
        </p:txBody>
      </p:sp>
      <p:sp>
        <p:nvSpPr>
          <p:cNvPr id="6" name="config-col1">
            <a:extLst xmlns:a="http://schemas.openxmlformats.org/drawingml/2006/main">
              <a:ext uri="{FF2B5EF4-FFF2-40B4-BE49-F238E27FC236}">
                <a16:creationId xmlns:a16="http://schemas.microsoft.com/office/drawing/2014/main" id="{0B386C33-2D03-43A5-AB43-D4D4BB33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240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在哪里调整</a:t>
            </a:r>
          </a:p>
        </p:txBody>
      </p:sp>
      <p:sp>
        <p:nvSpPr>
          <p:cNvPr id="7" name="config-col2">
            <a:extLst xmlns:a="http://schemas.openxmlformats.org/drawingml/2006/main">
              <a:ext uri="{FF2B5EF4-FFF2-40B4-BE49-F238E27FC236}">
                <a16:creationId xmlns:a16="http://schemas.microsoft.com/office/drawing/2014/main" id="{852C610E-6821-4544-9AC5-AE641A2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240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如何检查与传递</a:t>
            </a:r>
          </a:p>
        </p:txBody>
      </p:sp>
      <p:sp>
        <p:nvSpPr>
          <p:cNvPr id="8" name="config-col3">
            <a:extLst xmlns:a="http://schemas.openxmlformats.org/drawingml/2006/main">
              <a:ext uri="{FF2B5EF4-FFF2-40B4-BE49-F238E27FC236}">
                <a16:creationId xmlns:a16="http://schemas.microsoft.com/office/drawing/2014/main" id="{9583B6E8-E57A-426E-9AEC-7D7E0768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1724025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何时生效</a:t>
            </a:r>
          </a:p>
        </p:txBody>
      </p:sp>
      <p:sp>
        <p:nvSpPr>
          <p:cNvPr id="9" name="job-0-flow-node">
            <a:extLst xmlns:a="http://schemas.openxmlformats.org/drawingml/2006/main">
              <a:ext uri="{FF2B5EF4-FFF2-40B4-BE49-F238E27FC236}">
                <a16:creationId xmlns:a16="http://schemas.microsoft.com/office/drawing/2014/main" id="{D68EE1E6-50CE-41C8-917D-40B35DD4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0" name="job-0-title">
            <a:extLst xmlns:a="http://schemas.openxmlformats.org/drawingml/2006/main">
              <a:ext uri="{FF2B5EF4-FFF2-40B4-BE49-F238E27FC236}">
                <a16:creationId xmlns:a16="http://schemas.microsoft.com/office/drawing/2014/main" id="{8AFF27F7-254E-4567-AE64-A49A137A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本次压测选择</a:t>
            </a:r>
          </a:p>
        </p:txBody>
      </p:sp>
      <p:sp>
        <p:nvSpPr>
          <p:cNvPr id="11" name="job-0-body">
            <a:extLst xmlns:a="http://schemas.openxmlformats.org/drawingml/2006/main">
              <a:ext uri="{FF2B5EF4-FFF2-40B4-BE49-F238E27FC236}">
                <a16:creationId xmlns:a16="http://schemas.microsoft.com/office/drawing/2014/main" id="{1F53C752-765B-4A3D-B411-A32C2B3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logical 设备 / 算子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模型操作 / reference ID</a:t>
            </a:r>
          </a:p>
        </p:txBody>
      </p:sp>
      <p:sp>
        <p:nvSpPr>
          <p:cNvPr id="12" name="job-1-flow-node">
            <a:extLst xmlns:a="http://schemas.openxmlformats.org/drawingml/2006/main">
              <a:ext uri="{FF2B5EF4-FFF2-40B4-BE49-F238E27FC236}">
                <a16:creationId xmlns:a16="http://schemas.microsoft.com/office/drawing/2014/main" id="{E20FAA27-14EA-4F65-B207-CF306074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3" name="job-1-title">
            <a:extLst xmlns:a="http://schemas.openxmlformats.org/drawingml/2006/main">
              <a:ext uri="{FF2B5EF4-FFF2-40B4-BE49-F238E27FC236}">
                <a16:creationId xmlns:a16="http://schemas.microsoft.com/office/drawing/2014/main" id="{72CE358A-AF89-4384-BE55-5C83303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050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Web 或 CLI</a:t>
            </a:r>
          </a:p>
        </p:txBody>
      </p:sp>
      <p:sp>
        <p:nvSpPr>
          <p:cNvPr id="14" name="job-1-body">
            <a:extLst xmlns:a="http://schemas.openxmlformats.org/drawingml/2006/main">
              <a:ext uri="{FF2B5EF4-FFF2-40B4-BE49-F238E27FC236}">
                <a16:creationId xmlns:a16="http://schemas.microsoft.com/office/drawing/2014/main" id="{A593D8B6-8481-459F-9836-91ACF1E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--npu-devices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--npu-cases</a:t>
            </a:r>
          </a:p>
        </p:txBody>
      </p:sp>
      <p:sp>
        <p:nvSpPr>
          <p:cNvPr id="15" name="job-2-flow-node">
            <a:extLst xmlns:a="http://schemas.openxmlformats.org/drawingml/2006/main">
              <a:ext uri="{FF2B5EF4-FFF2-40B4-BE49-F238E27FC236}">
                <a16:creationId xmlns:a16="http://schemas.microsoft.com/office/drawing/2014/main" id="{ED5ABE96-42FF-4A90-B505-1B120E8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6" name="job-2-title">
            <a:extLst xmlns:a="http://schemas.openxmlformats.org/drawingml/2006/main">
              <a:ext uri="{FF2B5EF4-FFF2-40B4-BE49-F238E27FC236}">
                <a16:creationId xmlns:a16="http://schemas.microsoft.com/office/drawing/2014/main" id="{927EFF3E-BCBC-422D-A5CE-43DF1D7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050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Controller 固定 Job</a:t>
            </a:r>
          </a:p>
        </p:txBody>
      </p:sp>
      <p:sp>
        <p:nvSpPr>
          <p:cNvPr id="17" name="job-2-body">
            <a:extLst xmlns:a="http://schemas.openxmlformats.org/drawingml/2006/main">
              <a:ext uri="{FF2B5EF4-FFF2-40B4-BE49-F238E27FC236}">
                <a16:creationId xmlns:a16="http://schemas.microsoft.com/office/drawing/2014/main" id="{3A543633-4E57-4A3E-A8CE-B5CB66D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授权、设备与依赖预检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Describe / Run 用同一参数</a:t>
            </a:r>
          </a:p>
        </p:txBody>
      </p:sp>
      <p:sp>
        <p:nvSpPr>
          <p:cNvPr id="18" name="job-3-flow-node">
            <a:extLst xmlns:a="http://schemas.openxmlformats.org/drawingml/2006/main">
              <a:ext uri="{FF2B5EF4-FFF2-40B4-BE49-F238E27FC236}">
                <a16:creationId xmlns:a16="http://schemas.microsoft.com/office/drawing/2014/main" id="{2F2C1949-4690-491A-9F5C-1B1C479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3431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9" name="job-3-title">
            <a:extLst xmlns:a="http://schemas.openxmlformats.org/drawingml/2006/main">
              <a:ext uri="{FF2B5EF4-FFF2-40B4-BE49-F238E27FC236}">
                <a16:creationId xmlns:a16="http://schemas.microsoft.com/office/drawing/2014/main" id="{F56BD08B-E363-40FB-921E-F811BC6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5050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本次 Job 生效</a:t>
            </a:r>
          </a:p>
        </p:txBody>
      </p:sp>
      <p:sp>
        <p:nvSpPr>
          <p:cNvPr id="20" name="job-3-body">
            <a:extLst xmlns:a="http://schemas.openxmlformats.org/drawingml/2006/main">
              <a:ext uri="{FF2B5EF4-FFF2-40B4-BE49-F238E27FC236}">
                <a16:creationId xmlns:a16="http://schemas.microsoft.com/office/drawing/2014/main" id="{33B4C336-7574-4102-8769-0D5C93A4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146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无需改 YAML 或重建容器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报告核对实际结果</a:t>
            </a:r>
          </a:p>
        </p:txBody>
      </p:sp>
      <p:sp>
        <p:nvSpPr>
          <p:cNvPr id="24" name="admin-0-flow-node">
            <a:extLst xmlns:a="http://schemas.openxmlformats.org/drawingml/2006/main">
              <a:ext uri="{FF2B5EF4-FFF2-40B4-BE49-F238E27FC236}">
                <a16:creationId xmlns:a16="http://schemas.microsoft.com/office/drawing/2014/main" id="{0E9B1E7C-3377-4A5B-92A5-02C90A0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5" name="admin-0-title">
            <a:extLst xmlns:a="http://schemas.openxmlformats.org/drawingml/2006/main">
              <a:ext uri="{FF2B5EF4-FFF2-40B4-BE49-F238E27FC236}">
                <a16:creationId xmlns:a16="http://schemas.microsoft.com/office/drawing/2014/main" id="{5504D9BF-5E08-4CDD-8E57-93BB996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部署授权与默认值</a:t>
            </a:r>
          </a:p>
        </p:txBody>
      </p:sp>
      <p:sp>
        <p:nvSpPr>
          <p:cNvPr id="26" name="admin-0-body">
            <a:extLst xmlns:a="http://schemas.openxmlformats.org/drawingml/2006/main">
              <a:ext uri="{FF2B5EF4-FFF2-40B4-BE49-F238E27FC236}">
                <a16:creationId xmlns:a16="http://schemas.microsoft.com/office/drawing/2014/main" id="{52C730AB-56A0-4DA5-8C94-67EAEAA3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设备 / 模型 allowlist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默认设备、时限、CPU 规模</a:t>
            </a:r>
          </a:p>
        </p:txBody>
      </p:sp>
      <p:sp>
        <p:nvSpPr>
          <p:cNvPr id="27" name="admin-1-flow-node">
            <a:extLst xmlns:a="http://schemas.openxmlformats.org/drawingml/2006/main">
              <a:ext uri="{FF2B5EF4-FFF2-40B4-BE49-F238E27FC236}">
                <a16:creationId xmlns:a16="http://schemas.microsoft.com/office/drawing/2014/main" id="{F87AB0F9-2805-46E5-A0C2-1CBD49DB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8" name="admin-1-title">
            <a:extLst xmlns:a="http://schemas.openxmlformats.org/drawingml/2006/main">
              <a:ext uri="{FF2B5EF4-FFF2-40B4-BE49-F238E27FC236}">
                <a16:creationId xmlns:a16="http://schemas.microsoft.com/office/drawing/2014/main" id="{1439FE22-298E-4315-B2DC-927F176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576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generator / 配置</a:t>
            </a:r>
          </a:p>
        </p:txBody>
      </p:sp>
      <p:sp>
        <p:nvSpPr>
          <p:cNvPr id="29" name="admin-1-body">
            <a:extLst xmlns:a="http://schemas.openxmlformats.org/drawingml/2006/main">
              <a:ext uri="{FF2B5EF4-FFF2-40B4-BE49-F238E27FC236}">
                <a16:creationId xmlns:a16="http://schemas.microsoft.com/office/drawing/2014/main" id="{8B2ACBA5-F6D6-4668-9F00-423C68E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672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--npu-allowed-devices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--npu-burn-device</a:t>
            </a:r>
          </a:p>
        </p:txBody>
      </p:sp>
      <p:sp>
        <p:nvSpPr>
          <p:cNvPr id="30" name="admin-2-flow-node">
            <a:extLst xmlns:a="http://schemas.openxmlformats.org/drawingml/2006/main">
              <a:ext uri="{FF2B5EF4-FFF2-40B4-BE49-F238E27FC236}">
                <a16:creationId xmlns:a16="http://schemas.microsoft.com/office/drawing/2014/main" id="{E5A98ECF-505E-4B26-B8EA-16DBCDC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1" name="admin-2-title">
            <a:extLst xmlns:a="http://schemas.openxmlformats.org/drawingml/2006/main">
              <a:ext uri="{FF2B5EF4-FFF2-40B4-BE49-F238E27FC236}">
                <a16:creationId xmlns:a16="http://schemas.microsoft.com/office/drawing/2014/main" id="{17D4D84A-9B5F-4150-9F88-18419E6D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576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新生成目录</a:t>
            </a:r>
          </a:p>
        </p:txBody>
      </p:sp>
      <p:sp>
        <p:nvSpPr>
          <p:cNvPr id="32" name="admin-2-body">
            <a:extLst xmlns:a="http://schemas.openxmlformats.org/drawingml/2006/main">
              <a:ext uri="{FF2B5EF4-FFF2-40B4-BE49-F238E27FC236}">
                <a16:creationId xmlns:a16="http://schemas.microsoft.com/office/drawing/2014/main" id="{D7C4AFB4-12F0-46B3-83F7-2C02632D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672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完整参数生成 YAML/env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Compose config 核对</a:t>
            </a:r>
          </a:p>
        </p:txBody>
      </p:sp>
      <p:sp>
        <p:nvSpPr>
          <p:cNvPr id="33" name="admin-3-flow-node">
            <a:extLst xmlns:a="http://schemas.openxmlformats.org/drawingml/2006/main">
              <a:ext uri="{FF2B5EF4-FFF2-40B4-BE49-F238E27FC236}">
                <a16:creationId xmlns:a16="http://schemas.microsoft.com/office/drawing/2014/main" id="{D17C4EC6-4468-4CE6-BA9D-6F9720F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0957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4" name="admin-3-title">
            <a:extLst xmlns:a="http://schemas.openxmlformats.org/drawingml/2006/main">
              <a:ext uri="{FF2B5EF4-FFF2-40B4-BE49-F238E27FC236}">
                <a16:creationId xmlns:a16="http://schemas.microsoft.com/office/drawing/2014/main" id="{BA296147-AC3F-4ECA-A276-D21C2AC6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576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空闲后更新服务</a:t>
            </a:r>
          </a:p>
        </p:txBody>
      </p:sp>
      <p:sp>
        <p:nvSpPr>
          <p:cNvPr id="35" name="admin-3-body">
            <a:extLst xmlns:a="http://schemas.openxmlformats.org/drawingml/2006/main">
              <a:ext uri="{FF2B5EF4-FFF2-40B4-BE49-F238E27FC236}">
                <a16:creationId xmlns:a16="http://schemas.microsoft.com/office/drawing/2014/main" id="{B595870E-6ECE-4A6C-9B08-839A94CD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6672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授权改 Controller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env / CPU 规模改 workload</a:t>
            </a:r>
          </a:p>
        </p:txBody>
      </p:sp>
      <p:sp>
        <p:nvSpPr>
          <p:cNvPr id="39" name="tensor-0-flow-node">
            <a:extLst xmlns:a="http://schemas.openxmlformats.org/drawingml/2006/main">
              <a:ext uri="{FF2B5EF4-FFF2-40B4-BE49-F238E27FC236}">
                <a16:creationId xmlns:a16="http://schemas.microsoft.com/office/drawing/2014/main" id="{7662BA34-3FE2-4B29-A6FC-2842C64E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0" name="tensor-0-title">
            <a:extLst xmlns:a="http://schemas.openxmlformats.org/drawingml/2006/main">
              <a:ext uri="{FF2B5EF4-FFF2-40B4-BE49-F238E27FC236}">
                <a16:creationId xmlns:a16="http://schemas.microsoft.com/office/drawing/2014/main" id="{C1E487EA-8E98-42AB-B002-54904F4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Tensor / 模型参数</a:t>
            </a:r>
          </a:p>
        </p:txBody>
      </p:sp>
      <p:sp>
        <p:nvSpPr>
          <p:cNvPr id="41" name="tensor-0-body">
            <a:extLst xmlns:a="http://schemas.openxmlformats.org/drawingml/2006/main">
              <a:ext uri="{FF2B5EF4-FFF2-40B4-BE49-F238E27FC236}">
                <a16:creationId xmlns:a16="http://schemas.microsoft.com/office/drawing/2014/main" id="{B7F0A260-9576-4AD7-AA8D-F2EBEDAA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shape / dtype / pattern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run_count 与模型设置</a:t>
            </a:r>
          </a:p>
        </p:txBody>
      </p:sp>
      <p:sp>
        <p:nvSpPr>
          <p:cNvPr id="42" name="tensor-1-flow-node">
            <a:extLst xmlns:a="http://schemas.openxmlformats.org/drawingml/2006/main">
              <a:ext uri="{FF2B5EF4-FFF2-40B4-BE49-F238E27FC236}">
                <a16:creationId xmlns:a16="http://schemas.microsoft.com/office/drawing/2014/main" id="{50E0B52A-5CBC-4359-9095-C42BE8E0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483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3" name="tensor-1-title">
            <a:extLst xmlns:a="http://schemas.openxmlformats.org/drawingml/2006/main">
              <a:ext uri="{FF2B5EF4-FFF2-40B4-BE49-F238E27FC236}">
                <a16:creationId xmlns:a16="http://schemas.microsoft.com/office/drawing/2014/main" id="{2E37A319-8751-418A-966F-463D5FD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1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完整外部配置副本</a:t>
            </a:r>
          </a:p>
        </p:txBody>
      </p:sp>
      <p:sp>
        <p:nvSpPr>
          <p:cNvPr id="44" name="tensor-1-body">
            <a:extLst xmlns:a="http://schemas.openxmlformats.org/drawingml/2006/main">
              <a:ext uri="{FF2B5EF4-FFF2-40B4-BE49-F238E27FC236}">
                <a16:creationId xmlns:a16="http://schemas.microsoft.com/office/drawing/2014/main" id="{0FE077B6-0C06-489F-BCD4-766F779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198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保留 base 与 A3 配置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不原地改活动任务配置</a:t>
            </a:r>
          </a:p>
        </p:txBody>
      </p:sp>
      <p:sp>
        <p:nvSpPr>
          <p:cNvPr id="45" name="tensor-2-flow-node">
            <a:extLst xmlns:a="http://schemas.openxmlformats.org/drawingml/2006/main">
              <a:ext uri="{FF2B5EF4-FFF2-40B4-BE49-F238E27FC236}">
                <a16:creationId xmlns:a16="http://schemas.microsoft.com/office/drawing/2014/main" id="{3783A24C-703B-4CBF-93E9-9837044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483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6" name="tensor-2-title">
            <a:extLst xmlns:a="http://schemas.openxmlformats.org/drawingml/2006/main">
              <a:ext uri="{FF2B5EF4-FFF2-40B4-BE49-F238E27FC236}">
                <a16:creationId xmlns:a16="http://schemas.microsoft.com/office/drawing/2014/main" id="{E38EEEB0-9692-4F85-BA98-AD4DC253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01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校验并只读挂载</a:t>
            </a:r>
          </a:p>
        </p:txBody>
      </p:sp>
      <p:sp>
        <p:nvSpPr>
          <p:cNvPr id="47" name="tensor-2-body">
            <a:extLst xmlns:a="http://schemas.openxmlformats.org/drawingml/2006/main">
              <a:ext uri="{FF2B5EF4-FFF2-40B4-BE49-F238E27FC236}">
                <a16:creationId xmlns:a16="http://schemas.microsoft.com/office/drawing/2014/main" id="{7F3882F2-8313-4E6B-BAC3-830F8985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198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npu_config_profile.py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--npu-config-dir</a:t>
            </a:r>
          </a:p>
        </p:txBody>
      </p:sp>
      <p:sp>
        <p:nvSpPr>
          <p:cNvPr id="48" name="tensor-3-flow-node">
            <a:extLst xmlns:a="http://schemas.openxmlformats.org/drawingml/2006/main">
              <a:ext uri="{FF2B5EF4-FFF2-40B4-BE49-F238E27FC236}">
                <a16:creationId xmlns:a16="http://schemas.microsoft.com/office/drawing/2014/main" id="{455BC7D5-4059-44AF-979C-37C68C4D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848350"/>
            <a:ext cx="2990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49" name="tensor-3-title">
            <a:extLst xmlns:a="http://schemas.openxmlformats.org/drawingml/2006/main">
              <a:ext uri="{FF2B5EF4-FFF2-40B4-BE49-F238E27FC236}">
                <a16:creationId xmlns:a16="http://schemas.microsoft.com/office/drawing/2014/main" id="{C542741F-E833-4856-960C-0A0CB134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10275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更新 NPU 容器</a:t>
            </a:r>
          </a:p>
        </p:txBody>
      </p:sp>
      <p:sp>
        <p:nvSpPr>
          <p:cNvPr id="50" name="tensor-3-body">
            <a:extLst xmlns:a="http://schemas.openxmlformats.org/drawingml/2006/main">
              <a:ext uri="{FF2B5EF4-FFF2-40B4-BE49-F238E27FC236}">
                <a16:creationId xmlns:a16="http://schemas.microsoft.com/office/drawing/2014/main" id="{F8B2B675-66C1-4297-880D-8B8903A0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19850"/>
            <a:ext cx="26860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doctor / tensor 详情核对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模型参考匹配后再 compare</a:t>
            </a:r>
          </a:p>
        </p:txBody>
      </p:sp>
    </p:spTree>
    <p:extLst>
      <p:ext uri="{BB962C8B-B14F-4D97-AF65-F5344CB8AC3E}">
        <p14:creationId xmlns:p14="http://schemas.microsoft.com/office/powerpoint/2010/main" val="706571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0244DB-894B-493C-8E33-D35AC490D397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1715750" y="57959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5600A6-FF0D-464B-8177-2A7B969EA355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801100" y="57959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AC7513-289E-4D8F-B495-81A26D1AE93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886450" y="57959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D735DE-63C6-48EB-B079-FF2D9B80675E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971800" y="57959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EE02A-C2BF-4DED-A84E-0425E7BE89D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53750" y="3186113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23D09-BB00-4617-820D-806680B23AA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96150" y="3186113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4F949-B13C-4897-A4E1-88ADAFC337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38550" y="3186113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5C0"/>
            </a:solidFill>
            <a:tailEnd type="triangle" w="med" len="med"/>
          </a:ln>
        </p:spPr>
      </p:cxn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9EF0F7E7-CBCA-49DA-936B-90169003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管理员启停：功能开关与任务取消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486321-E7EC-4523-A638-4F8C2DE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402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操作前进入维护窗口，限制新请求并确认活动 Job 状态。关闭压测时保留监控配置、历史和参考卷。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3B936AB-A964-4331-82F5-3E98B81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48625"/>
            <a:ext cx="1319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web_enabled=false 不是完整后端安全隔离。Run/Cancel 尚无完整认证/RBAC，Web 只向可信管理网开放。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EB84F14-42E2-4B3D-B90D-7636B1F2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98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enable-title">
            <a:extLst xmlns:a="http://schemas.openxmlformats.org/drawingml/2006/main">
              <a:ext uri="{FF2B5EF4-FFF2-40B4-BE49-F238E27FC236}">
                <a16:creationId xmlns:a16="http://schemas.microsoft.com/office/drawing/2014/main" id="{EF1B92FB-6828-423F-A993-566133CF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开启压测</a:t>
            </a:r>
          </a:p>
        </p:txBody>
      </p:sp>
      <p:sp>
        <p:nvSpPr>
          <p:cNvPr id="6" name="enable-config-flow-node">
            <a:extLst xmlns:a="http://schemas.openxmlformats.org/drawingml/2006/main">
              <a:ext uri="{FF2B5EF4-FFF2-40B4-BE49-F238E27FC236}">
                <a16:creationId xmlns:a16="http://schemas.microsoft.com/office/drawing/2014/main" id="{4FF61ECC-641F-40D9-9C9A-6C5EB4A8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02895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7" name="enable-config-title">
            <a:extLst xmlns:a="http://schemas.openxmlformats.org/drawingml/2006/main">
              <a:ext uri="{FF2B5EF4-FFF2-40B4-BE49-F238E27FC236}">
                <a16:creationId xmlns:a16="http://schemas.microsoft.com/office/drawing/2014/main" id="{29926C5F-EB17-4A2C-BEC6-04A8810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启用配置与授权</a:t>
            </a:r>
          </a:p>
        </p:txBody>
      </p:sp>
      <p:sp>
        <p:nvSpPr>
          <p:cNvPr id="8" name="enable-config-body">
            <a:extLst xmlns:a="http://schemas.openxmlformats.org/drawingml/2006/main">
              <a:ext uri="{FF2B5EF4-FFF2-40B4-BE49-F238E27FC236}">
                <a16:creationId xmlns:a16="http://schemas.microsoft.com/office/drawing/2014/main" id="{9E4D6993-AF6D-4C14-AAC9-CED65348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724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stress.enabled: true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目标 benchmark: enabled</a:t>
            </a:r>
          </a:p>
        </p:txBody>
      </p:sp>
      <p:sp>
        <p:nvSpPr>
          <p:cNvPr id="9" name="enable-workload-flow-node">
            <a:extLst xmlns:a="http://schemas.openxmlformats.org/drawingml/2006/main">
              <a:ext uri="{FF2B5EF4-FFF2-40B4-BE49-F238E27FC236}">
                <a16:creationId xmlns:a16="http://schemas.microsoft.com/office/drawing/2014/main" id="{FE14A0A9-EF58-4A57-9C7E-DBA2F633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302895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0" name="enable-workload-title">
            <a:extLst xmlns:a="http://schemas.openxmlformats.org/drawingml/2006/main">
              <a:ext uri="{FF2B5EF4-FFF2-40B4-BE49-F238E27FC236}">
                <a16:creationId xmlns:a16="http://schemas.microsoft.com/office/drawing/2014/main" id="{8D1827D1-C03A-4C7D-A1B7-D0E363C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193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启动所需 workload</a:t>
            </a:r>
          </a:p>
        </p:txBody>
      </p:sp>
      <p:sp>
        <p:nvSpPr>
          <p:cNvPr id="11" name="enable-workload-body">
            <a:extLst xmlns:a="http://schemas.openxmlformats.org/drawingml/2006/main">
              <a:ext uri="{FF2B5EF4-FFF2-40B4-BE49-F238E27FC236}">
                <a16:creationId xmlns:a16="http://schemas.microsoft.com/office/drawing/2014/main" id="{394C9B76-7024-4E02-A3A2-88CB1E4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2724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CPU / NPU 按需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设备和模型授权不扩大</a:t>
            </a:r>
          </a:p>
        </p:txBody>
      </p:sp>
      <p:sp>
        <p:nvSpPr>
          <p:cNvPr id="12" name="enable-daemon-flow-node">
            <a:extLst xmlns:a="http://schemas.openxmlformats.org/drawingml/2006/main">
              <a:ext uri="{FF2B5EF4-FFF2-40B4-BE49-F238E27FC236}">
                <a16:creationId xmlns:a16="http://schemas.microsoft.com/office/drawing/2014/main" id="{0ED753BD-1579-4FD7-9B98-2765A32E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302895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3" name="enable-daemon-title">
            <a:extLst xmlns:a="http://schemas.openxmlformats.org/drawingml/2006/main">
              <a:ext uri="{FF2B5EF4-FFF2-40B4-BE49-F238E27FC236}">
                <a16:creationId xmlns:a16="http://schemas.microsoft.com/office/drawing/2014/main" id="{F97CEF9F-FAE7-4C08-A746-3C10F0E1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更新 Controller</a:t>
            </a:r>
          </a:p>
        </p:txBody>
      </p:sp>
      <p:sp>
        <p:nvSpPr>
          <p:cNvPr id="14" name="enable-daemon-body">
            <a:extLst xmlns:a="http://schemas.openxmlformats.org/drawingml/2006/main">
              <a:ext uri="{FF2B5EF4-FFF2-40B4-BE49-F238E27FC236}">
                <a16:creationId xmlns:a16="http://schemas.microsoft.com/office/drawing/2014/main" id="{CFB4EFCF-733E-4002-B0E0-2AA3F3E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2724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重建 daemon 读取配置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安排短暂监控中断窗口</a:t>
            </a:r>
          </a:p>
        </p:txBody>
      </p:sp>
      <p:sp>
        <p:nvSpPr>
          <p:cNvPr id="15" name="enable-check-flow-node">
            <a:extLst xmlns:a="http://schemas.openxmlformats.org/drawingml/2006/main">
              <a:ext uri="{FF2B5EF4-FFF2-40B4-BE49-F238E27FC236}">
                <a16:creationId xmlns:a16="http://schemas.microsoft.com/office/drawing/2014/main" id="{7E043ABC-463A-4789-8127-721815CD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457450"/>
            <a:ext cx="304800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16" name="enable-check-title">
            <a:extLst xmlns:a="http://schemas.openxmlformats.org/drawingml/2006/main">
              <a:ext uri="{FF2B5EF4-FFF2-40B4-BE49-F238E27FC236}">
                <a16:creationId xmlns:a16="http://schemas.microsoft.com/office/drawing/2014/main" id="{5AFACE66-2F9A-4C40-B7C7-97039A0C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19375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检查后使用</a:t>
            </a:r>
          </a:p>
        </p:txBody>
      </p:sp>
      <p:sp>
        <p:nvSpPr>
          <p:cNvPr id="17" name="enable-check-body">
            <a:extLst xmlns:a="http://schemas.openxmlformats.org/drawingml/2006/main">
              <a:ext uri="{FF2B5EF4-FFF2-40B4-BE49-F238E27FC236}">
                <a16:creationId xmlns:a16="http://schemas.microsoft.com/office/drawing/2014/main" id="{ADB27286-298B-4389-9740-3784692A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028950"/>
            <a:ext cx="2743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doctor 与 API 可用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设备空闲后发起 Job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8FF13-E6EA-4524-9D03-D4E0377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BE4"/>
            </a:solidFill>
          </a:ln>
        </p:spPr>
      </p:sp>
      <p:sp>
        <p:nvSpPr>
          <p:cNvPr id="22" name="disable-title">
            <a:extLst xmlns:a="http://schemas.openxmlformats.org/drawingml/2006/main">
              <a:ext uri="{FF2B5EF4-FFF2-40B4-BE49-F238E27FC236}">
                <a16:creationId xmlns:a16="http://schemas.microsoft.com/office/drawing/2014/main" id="{CA8C69B2-93D9-430F-8616-3049286B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关闭全部压测</a:t>
            </a:r>
          </a:p>
        </p:txBody>
      </p:sp>
      <p:sp>
        <p:nvSpPr>
          <p:cNvPr id="23" name="disable-job-flow-node">
            <a:extLst xmlns:a="http://schemas.openxmlformats.org/drawingml/2006/main">
              <a:ext uri="{FF2B5EF4-FFF2-40B4-BE49-F238E27FC236}">
                <a16:creationId xmlns:a16="http://schemas.microsoft.com/office/drawing/2014/main" id="{0F562CD9-EF58-4E59-A36A-54BB1F63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3622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4" name="disable-job-title">
            <a:extLst xmlns:a="http://schemas.openxmlformats.org/drawingml/2006/main">
              <a:ext uri="{FF2B5EF4-FFF2-40B4-BE49-F238E27FC236}">
                <a16:creationId xmlns:a16="http://schemas.microsoft.com/office/drawing/2014/main" id="{D3B27364-A6D2-4559-9406-93BED6E3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完成或取消作业</a:t>
            </a:r>
          </a:p>
        </p:txBody>
      </p:sp>
      <p:sp>
        <p:nvSpPr>
          <p:cNvPr id="25" name="disable-job-body">
            <a:extLst xmlns:a="http://schemas.openxmlformats.org/drawingml/2006/main">
              <a:ext uri="{FF2B5EF4-FFF2-40B4-BE49-F238E27FC236}">
                <a16:creationId xmlns:a16="http://schemas.microsoft.com/office/drawing/2014/main" id="{54A419BB-CCAA-4890-B96C-ADF31F3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stress cancel --job ID</a:t>
            </a:r>
          </a:p>
          <a:p xmlns:a="http://schemas.openxmlformats.org/drawingml/2006/main">
            <a:pPr algn="l">
              <a:def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确认终态及进程退出</a:t>
            </a:r>
          </a:p>
        </p:txBody>
      </p:sp>
      <p:sp>
        <p:nvSpPr>
          <p:cNvPr id="26" name="disable-config-flow-node">
            <a:extLst xmlns:a="http://schemas.openxmlformats.org/drawingml/2006/main">
              <a:ext uri="{FF2B5EF4-FFF2-40B4-BE49-F238E27FC236}">
                <a16:creationId xmlns:a16="http://schemas.microsoft.com/office/drawing/2014/main" id="{1C91D41D-7021-4704-831E-49F0509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3622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27" name="disable-config-title">
            <a:extLst xmlns:a="http://schemas.openxmlformats.org/drawingml/2006/main">
              <a:ext uri="{FF2B5EF4-FFF2-40B4-BE49-F238E27FC236}">
                <a16:creationId xmlns:a16="http://schemas.microsoft.com/office/drawing/2014/main" id="{2F55E58B-302A-4EE0-B45E-CC7C3C82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673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关闭 Stress 段</a:t>
            </a:r>
          </a:p>
        </p:txBody>
      </p:sp>
      <p:sp>
        <p:nvSpPr>
          <p:cNvPr id="28" name="disable-config-body">
            <a:extLst xmlns:a="http://schemas.openxmlformats.org/drawingml/2006/main">
              <a:ext uri="{FF2B5EF4-FFF2-40B4-BE49-F238E27FC236}">
                <a16:creationId xmlns:a16="http://schemas.microsoft.com/office/drawing/2014/main" id="{300D2874-CF0E-4D72-A279-277B72A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769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stress.enabled: false</a:t>
            </a:r>
          </a:p>
          <a:p xmlns:a="http://schemas.openxmlformats.org/drawingml/2006/main">
            <a:pPr algn="l">
              <a:def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不改 snapshot / collector</a:t>
            </a:r>
          </a:p>
        </p:txBody>
      </p:sp>
      <p:sp>
        <p:nvSpPr>
          <p:cNvPr id="29" name="disable-daemon-flow-node">
            <a:extLst xmlns:a="http://schemas.openxmlformats.org/drawingml/2006/main">
              <a:ext uri="{FF2B5EF4-FFF2-40B4-BE49-F238E27FC236}">
                <a16:creationId xmlns:a16="http://schemas.microsoft.com/office/drawing/2014/main" id="{695088C7-685F-4BEE-92ED-C4AFB1FE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05400"/>
            <a:ext cx="23622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0" name="disable-daemon-title">
            <a:extLst xmlns:a="http://schemas.openxmlformats.org/drawingml/2006/main">
              <a:ext uri="{FF2B5EF4-FFF2-40B4-BE49-F238E27FC236}">
                <a16:creationId xmlns:a16="http://schemas.microsoft.com/office/drawing/2014/main" id="{DCF90362-BE22-4ABE-83D2-7C021797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673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更新 Controller</a:t>
            </a:r>
          </a:p>
        </p:txBody>
      </p:sp>
      <p:sp>
        <p:nvSpPr>
          <p:cNvPr id="31" name="disable-daemon-body">
            <a:extLst xmlns:a="http://schemas.openxmlformats.org/drawingml/2006/main">
              <a:ext uri="{FF2B5EF4-FFF2-40B4-BE49-F238E27FC236}">
                <a16:creationId xmlns:a16="http://schemas.microsoft.com/office/drawing/2014/main" id="{96900B0F-7CFA-424E-9717-3E15931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769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仅重建 daemon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停止目标 workload</a:t>
            </a:r>
          </a:p>
        </p:txBody>
      </p:sp>
      <p:sp>
        <p:nvSpPr>
          <p:cNvPr id="32" name="disable-check-flow-node">
            <a:extLst xmlns:a="http://schemas.openxmlformats.org/drawingml/2006/main">
              <a:ext uri="{FF2B5EF4-FFF2-40B4-BE49-F238E27FC236}">
                <a16:creationId xmlns:a16="http://schemas.microsoft.com/office/drawing/2014/main" id="{A087198D-1E7D-4454-BF58-5C3B72B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05400"/>
            <a:ext cx="23622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3" name="disable-check-title">
            <a:extLst xmlns:a="http://schemas.openxmlformats.org/drawingml/2006/main">
              <a:ext uri="{FF2B5EF4-FFF2-40B4-BE49-F238E27FC236}">
                <a16:creationId xmlns:a16="http://schemas.microsoft.com/office/drawing/2014/main" id="{8BB5C836-FBDB-4BBF-A0DB-B13A47C9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确认已禁用</a:t>
            </a:r>
          </a:p>
        </p:txBody>
      </p:sp>
      <p:sp>
        <p:nvSpPr>
          <p:cNvPr id="34" name="disable-check-body">
            <a:extLst xmlns:a="http://schemas.openxmlformats.org/drawingml/2006/main">
              <a:ext uri="{FF2B5EF4-FFF2-40B4-BE49-F238E27FC236}">
                <a16:creationId xmlns:a16="http://schemas.microsoft.com/office/drawing/2014/main" id="{0FD13546-509D-4EF8-972A-954B8B9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769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API enabled=false</a:t>
            </a:r>
          </a:p>
          <a:p xmlns:a="http://schemas.openxmlformats.org/drawingml/2006/main">
            <a:pPr algn="l">
              <a:def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available=false</a:t>
            </a:r>
          </a:p>
        </p:txBody>
      </p:sp>
      <p:sp>
        <p:nvSpPr>
          <p:cNvPr id="35" name="disable-monitor-flow-node">
            <a:extLst xmlns:a="http://schemas.openxmlformats.org/drawingml/2006/main">
              <a:ext uri="{FF2B5EF4-FFF2-40B4-BE49-F238E27FC236}">
                <a16:creationId xmlns:a16="http://schemas.microsoft.com/office/drawing/2014/main" id="{78284FE6-4A77-4087-B655-3DC38FB5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105400"/>
            <a:ext cx="23622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FF9"/>
          </a:solidFill>
          <a:ln xmlns:a="http://schemas.openxmlformats.org/drawingml/2006/main" w="14288">
            <a:solidFill>
              <a:srgbClr val="B8CBE4"/>
            </a:solidFill>
          </a:ln>
        </p:spPr>
      </p:sp>
      <p:sp>
        <p:nvSpPr>
          <p:cNvPr id="36" name="disable-monitor-title">
            <a:extLst xmlns:a="http://schemas.openxmlformats.org/drawingml/2006/main">
              <a:ext uri="{FF2B5EF4-FFF2-40B4-BE49-F238E27FC236}">
                <a16:creationId xmlns:a16="http://schemas.microsoft.com/office/drawing/2014/main" id="{D049553E-03DC-4D03-AE18-54ECC337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2673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保留监控与数据</a:t>
            </a:r>
          </a:p>
        </p:txBody>
      </p:sp>
      <p:sp>
        <p:nvSpPr>
          <p:cNvPr id="37" name="disable-monitor-body">
            <a:extLst xmlns:a="http://schemas.openxmlformats.org/drawingml/2006/main">
              <a:ext uri="{FF2B5EF4-FFF2-40B4-BE49-F238E27FC236}">
                <a16:creationId xmlns:a16="http://schemas.microsoft.com/office/drawing/2014/main" id="{68740A0E-D5B8-47BC-B126-A2572C0A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6769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监控继续可用</a:t>
            </a:r>
          </a:p>
          <a:p xmlns:a="http://schemas.openxmlformats.org/drawingml/2006/main">
            <a:pPr algn="l">
              <a:def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保留历史与参考卷</a:t>
            </a:r>
          </a:p>
        </p:txBody>
      </p:sp>
      <p:sp>
        <p:nvSpPr>
          <p:cNvPr id="42" name="partial-label">
            <a:extLst xmlns:a="http://schemas.openxmlformats.org/drawingml/2006/main">
              <a:ext uri="{FF2B5EF4-FFF2-40B4-BE49-F238E27FC236}">
                <a16:creationId xmlns:a16="http://schemas.microsoft.com/office/drawing/2014/main" id="{0945AC43-23E3-434C-94A6-E9ACDD4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55C0"/>
                </a:solidFill>
                <a:latin typeface="Microsoft YaHei"/>
                <a:ea typeface="Microsoft YaHei"/>
                <a:cs typeface="Microsoft YaHei"/>
              </a:rPr>
              <a:t>只关闭 NPU</a:t>
            </a:r>
          </a:p>
        </p:txBody>
      </p:sp>
      <p:sp>
        <p:nvSpPr>
          <p:cNvPr id="43" name="partial-body">
            <a:extLst xmlns:a="http://schemas.openxmlformats.org/drawingml/2006/main">
              <a:ext uri="{FF2B5EF4-FFF2-40B4-BE49-F238E27FC236}">
                <a16:creationId xmlns:a16="http://schemas.microsoft.com/office/drawing/2014/main" id="{FEABFA1D-2754-46CD-AC7E-DA4FE0CA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848475"/>
            <a:ext cx="11982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42"/>
                </a:solidFill>
                <a:latin typeface="Microsoft YaHei"/>
                <a:ea typeface="Microsoft YaHei"/>
                <a:cs typeface="Microsoft YaHei"/>
              </a:rPr>
              <a:t>将 stress.benchmarks.npu_burn.enabled 设为 false，更新 daemon，再停止 NPU workload。CPU 与监控保留。</a:t>
            </a:r>
          </a:p>
        </p:txBody>
      </p:sp>
      <p:sp>
        <p:nvSpPr>
          <p:cNvPr id="44" name="stop-warning">
            <a:extLst xmlns:a="http://schemas.openxmlformats.org/drawingml/2006/main">
              <a:ext uri="{FF2B5EF4-FFF2-40B4-BE49-F238E27FC236}">
                <a16:creationId xmlns:a16="http://schemas.microsoft.com/office/drawing/2014/main" id="{84D72FA9-0AAB-4116-9CCD-C84BBCC0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53325"/>
            <a:ext cx="1402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6313"/>
                </a:solidFill>
                <a:latin typeface="Microsoft YaHei"/>
                <a:ea typeface="Microsoft YaHei"/>
                <a:cs typeface="Microsoft YaHei"/>
              </a:rPr>
              <a:t>Cancel 只结束一个 Job。只去掉 Compose profile，不会自动停掉已有容器，也不会撤销 Controller 授权。</a:t>
            </a:r>
          </a:p>
        </p:txBody>
      </p:sp>
    </p:spTree>
    <p:extLst>
      <p:ext uri="{BB962C8B-B14F-4D97-AF65-F5344CB8AC3E}">
        <p14:creationId xmlns:p14="http://schemas.microsoft.com/office/powerpoint/2010/main" val="1203809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2026-10-14T05:42:11.7020000Z</dcterms:created>
  <dcterms:modified xsi:type="dcterms:W3CDTF">2026-10-14T05:42:11.7020000Z</dcterms:modified>
</coreProperties>
</file>