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caa5d765a844b1" /><Relationship Type="http://schemas.openxmlformats.org/officeDocument/2006/relationships/extended-properties" Target="/docProps/app.xml" Id="R3a3f3ee9a1f34eb2" /><Relationship Type="http://schemas.openxmlformats.org/officeDocument/2006/relationships/officeDocument" Target="/ppt/presentation.xml" Id="Ra2891eaa959b4a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7cab8075604497"/>
  </p:sldMasterIdLst>
  <p:notesMasterIdLst>
    <p:notesMasterId xmlns:r="http://schemas.openxmlformats.org/officeDocument/2006/relationships" r:id="R03649b6bad214c1c"/>
  </p:notesMasterIdLst>
  <p:sldIdLst>
    <p:sldId xmlns:r="http://schemas.openxmlformats.org/officeDocument/2006/relationships" id="256" r:id="R4bc8501201e84359"/>
    <p:sldId xmlns:r="http://schemas.openxmlformats.org/officeDocument/2006/relationships" id="257" r:id="Rad6084e4148a4074"/>
    <p:sldId xmlns:r="http://schemas.openxmlformats.org/officeDocument/2006/relationships" id="258" r:id="R197a4c4bb1124f20"/>
    <p:sldId xmlns:r="http://schemas.openxmlformats.org/officeDocument/2006/relationships" id="259" r:id="R0623392df6e24257"/>
    <p:sldId xmlns:r="http://schemas.openxmlformats.org/officeDocument/2006/relationships" id="260" r:id="R910754e62f244c1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b16847d19943be" /><Relationship Type="http://schemas.openxmlformats.org/officeDocument/2006/relationships/slideMaster" Target="/ppt/slideMasters/slideMaster1.xml" Id="Rc27cab8075604497" /><Relationship Type="http://schemas.openxmlformats.org/officeDocument/2006/relationships/notesMaster" Target="/ppt/notesMasters/notesMaster1.xml" Id="R03649b6bad214c1c" /><Relationship Type="http://schemas.openxmlformats.org/officeDocument/2006/relationships/presProps" Target="/ppt/presProps.xml" Id="R57ae150ba24248a5" /><Relationship Type="http://schemas.openxmlformats.org/officeDocument/2006/relationships/tableStyles" Target="/ppt/tableStyles.xml" Id="R44fbfca0b7594351" /><Relationship Type="http://schemas.openxmlformats.org/officeDocument/2006/relationships/slide" Target="/ppt/slides/slide1.xml" Id="R4bc8501201e84359" /><Relationship Type="http://schemas.openxmlformats.org/officeDocument/2006/relationships/slide" Target="/ppt/slides/slide2.xml" Id="Rad6084e4148a4074" /><Relationship Type="http://schemas.openxmlformats.org/officeDocument/2006/relationships/slide" Target="/ppt/slides/slide3.xml" Id="R197a4c4bb1124f20" /><Relationship Type="http://schemas.openxmlformats.org/officeDocument/2006/relationships/slide" Target="/ppt/slides/slide4.xml" Id="R0623392df6e24257" /><Relationship Type="http://schemas.openxmlformats.org/officeDocument/2006/relationships/slide" Target="/ppt/slides/slide5.xml" Id="R910754e62f244c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73f17530d145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39fa89bf7e4d1e" /><Relationship Type="http://schemas.openxmlformats.org/officeDocument/2006/relationships/notesMaster" Target="/ppt/notesMasters/notesMaster1.xml" Id="Rb6763241f69b41c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2f4eda551f4ea5" /><Relationship Type="http://schemas.openxmlformats.org/officeDocument/2006/relationships/notesMaster" Target="/ppt/notesMasters/notesMaster1.xml" Id="Rf400a483cf1547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4948f2a52d4e51" /><Relationship Type="http://schemas.openxmlformats.org/officeDocument/2006/relationships/notesMaster" Target="/ppt/notesMasters/notesMaster1.xml" Id="R8c7b66f85cf34c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4511e0ee684955" /><Relationship Type="http://schemas.openxmlformats.org/officeDocument/2006/relationships/notesMaster" Target="/ppt/notesMasters/notesMaster1.xml" Id="R8db0c376c51441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59bb19a21a4e84" /><Relationship Type="http://schemas.openxmlformats.org/officeDocument/2006/relationships/notesMaster" Target="/ppt/notesMasters/notesMaster1.xml" Id="Rbe230579634f49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公开源码依据：https://github.com/spike677/CATMonitor/tree/5a3537cfc0cd1420c5e63bb4991e72c832781eca</a:t>
            </a:r>
          </a:p>
          <a:p xmlns:a="http://schemas.openxmlformats.org/drawingml/2006/main">
            <a:r>
              <a:t>相关文件：scripts/stress/generate_stress_deployment.sh，docker/docker-compose.yml，docker/docker-compose.npu.yml，docker/docker-compose.stress.yml，features/stress/static/stress.js，features/stress/workloadplugin/npu_model_linux.go，docker/stress/npu/model_sdc.py。</a:t>
            </a:r>
          </a:p>
          <a:p xmlns:a="http://schemas.openxmlformats.org/drawingml/2006/main">
            <a:r>
              <a:t>内容核对日期：2026-10-14。以下为 A2 ARM64 候选版使用说明，不代表 A3 配套或官方软件栈认证。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使用范围：</a:t>
            </a:r>
          </a:p>
          <a:p xmlns:a="http://schemas.openxmlformats.org/drawingml/2006/main">
            <a:r>
              <a:t>1. 算子支持列表以当前镜像实际准入检查为准，不把 selectable=true 称为所有参数均经硬件认证。</a:t>
            </a:r>
          </a:p>
          <a:p xmlns:a="http://schemas.openxmlformats.org/drawingml/2006/main">
            <a:r>
              <a:t>2. dtype 不支持时明确失败，不自动替换精度。</a:t>
            </a:r>
          </a:p>
          <a:p xmlns:a="http://schemas.openxmlformats.org/drawingml/2006/main">
            <a:r>
              <a:t>3. run_count 属于配置文件中的运行计数，不能将 CSV 行数解释成 run_count。</a:t>
            </a:r>
          </a:p>
          <a:p xmlns:a="http://schemas.openxmlformats.org/drawingml/2006/main">
            <a:r>
              <a:t>4. 模型在 case_catalog 中 selectable=false 表示不属于算子选择，不足以推断参考缺失。模型单独走 model_capabilities 和模型预检。</a:t>
            </a:r>
          </a:p>
          <a:p xmlns:a="http://schemas.openxmlformats.org/drawingml/2006/main">
            <a:r>
              <a:t>5. 当前保守的 NPU 空闲门禁检查整机业务进程。忙时拒绝启动 NPU workload，不妨碍获取源码、pull 镜像或生成配置。不要为了验收杀业务。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公开源码依据：https://github.com/spike677/CATMonitor/tree/5a3537cfc0cd1420c5e63bb4991e72c832781eca</a:t>
            </a:r>
          </a:p>
          <a:p xmlns:a="http://schemas.openxmlformats.org/drawingml/2006/main">
            <a:r>
              <a:t>相关文件：scripts/stress/generate_stress_deployment.sh，docker/docker-compose.yml，docker/docker-compose.npu.yml，docker/docker-compose.stress.yml，features/stress/static/stress.js，features/stress/workloadplugin/npu_model_linux.go，docker/stress/npu/model_sdc.py。</a:t>
            </a:r>
          </a:p>
          <a:p xmlns:a="http://schemas.openxmlformats.org/drawingml/2006/main">
            <a:r>
              <a:t>内容核对日期：2026-10-14。以下为 A2 ARM64 候选版使用说明，不代表 A3 配套或官方软件栈认证。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【下载命令，Bash 同一会话执行】</a:t>
            </a:r>
          </a:p>
          <a:p xmlns:a="http://schemas.openxmlformats.org/drawingml/2006/main">
            <a:r>
              <a:t>git clone -b codex/npu-model-a3-migration https://github.com/spike677/CATMonitor.git</a:t>
            </a:r>
          </a:p>
          <a:p xmlns:a="http://schemas.openxmlformats.org/drawingml/2006/main">
            <a:r>
              <a:t>cd CATMonitor</a:t>
            </a:r>
          </a:p>
          <a:p xmlns:a="http://schemas.openxmlformats.org/drawingml/2006/main">
            <a:r>
              <a:t>git checkout --detach 5a3537cfc0cd1420c5e63bb4991e72c832781eca</a:t>
            </a:r>
          </a:p>
          <a:p xmlns:a="http://schemas.openxmlformats.org/drawingml/2006/main">
            <a:r>
              <a:t>git status --short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R=ghcr.io/spike677</a:t>
            </a:r>
          </a:p>
          <a:p xmlns:a="http://schemas.openxmlformats.org/drawingml/2006/main">
            <a:r>
              <a:t>T=arm64-v0.3.6-a2-5a3537cfc0cd</a:t>
            </a:r>
          </a:p>
          <a:p xmlns:a="http://schemas.openxmlformats.org/drawingml/2006/main">
            <a:r>
              <a:t>CT=arm64-candidate-5a3537c-20261014</a:t>
            </a:r>
          </a:p>
          <a:p xmlns:a="http://schemas.openxmlformats.org/drawingml/2006/main">
            <a:r>
              <a:t>CONTROL="$R/catmonitor-npu:$T"</a:t>
            </a:r>
          </a:p>
          <a:p xmlns:a="http://schemas.openxmlformats.org/drawingml/2006/main">
            <a:r>
              <a:t>CPU="$R/catmonitor-stress-cpu:$CT"</a:t>
            </a:r>
          </a:p>
          <a:p xmlns:a="http://schemas.openxmlformats.org/drawingml/2006/main">
            <a:r>
              <a:t>NPU="$R/catmonitor-stress-npu:$T"</a:t>
            </a:r>
          </a:p>
          <a:p xmlns:a="http://schemas.openxmlformats.org/drawingml/2006/main">
            <a:r>
              <a:t>docker pull "$CONTROL"</a:t>
            </a:r>
          </a:p>
          <a:p xmlns:a="http://schemas.openxmlformats.org/drawingml/2006/main">
            <a:r>
              <a:t>docker pull "$CPU"</a:t>
            </a:r>
          </a:p>
          <a:p xmlns:a="http://schemas.openxmlformats.org/drawingml/2006/main">
            <a:r>
              <a:t>docker pull "$NPU"</a:t>
            </a:r>
          </a:p>
          <a:p xmlns:a="http://schemas.openxmlformats.org/drawingml/2006/main">
            <a:r>
              <a:t>docker image inspect "$CONTROL" "$CPU" "$NPU" --format '{{.RepoTags}} {{.Os}}/{{.Architecture}} {{.Id}}'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预期 Image ID：</a:t>
            </a:r>
          </a:p>
          <a:p xmlns:a="http://schemas.openxmlformats.org/drawingml/2006/main">
            <a:r>
              <a:t>Control sha256:65ea0e1a39b191300f5c1af7c3ebafbc36c33b6a74fc8f393c7c764f0679bb33</a:t>
            </a:r>
          </a:p>
          <a:p xmlns:a="http://schemas.openxmlformats.org/drawingml/2006/main">
            <a:r>
              <a:t>CPU sha256:b3e5748d1e8b6451b057574d032d8cce6cfb794e2ff86cf125c3efd55c803b03</a:t>
            </a:r>
          </a:p>
          <a:p xmlns:a="http://schemas.openxmlformats.org/drawingml/2006/main">
            <a:r>
              <a:t>NPU sha256:441578d7c49c3773a86a0625b6a1f99fd517668ffb905d822bc462dbfd799735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 Registry digest：</a:t>
            </a:r>
          </a:p>
          <a:p xmlns:a="http://schemas.openxmlformats.org/drawingml/2006/main">
            <a:r>
              <a:t>Control ghcr.io/spike677/catmonitor-npu@sha256:e12c566bb953c1fcfb532a26c5c3001afef95520117a04247990a726dd8c3982</a:t>
            </a:r>
          </a:p>
          <a:p xmlns:a="http://schemas.openxmlformats.org/drawingml/2006/main">
            <a:r>
              <a:t>CPU ghcr.io/spike677/catmonitor-stress-cpu@sha256:9b80439eab43b502a6db7bb8bc6183405e858f7dbf943f7db1dc7b5b3412844c</a:t>
            </a:r>
          </a:p>
          <a:p xmlns:a="http://schemas.openxmlformats.org/drawingml/2006/main">
            <a:r>
              <a:t>NPU ghcr.io/spike677/catmonitor-stress-npu@sha256:f63e6072de5abf5e2113da9c1ff72165eeef2985fff6366145c6f56a9479417b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来源：当前个人 GHCR 对应 tag 的 manifest/config 检查记录，Control/CPU 与本地 .delivery/CANDIDATE_IMAGES_20261014.md 身份交叉核对。镜像大小为压缩层合计近似下载量，已有缓存时更少。分支名带 a3-migration，不代表本页 NPU 镜像面向 A3。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离线节点：在有网络的获准机器执行 docker save -o catmonitor-a2-images.tar "$CONTROL" "$CPU" "$NPU"，传入目标节点后 docker load -i catmonitor-a2-images.tar，再 inspect 核对身份。tar 不放 Git。无需挂宿主 Python site-packages，不对运行容器临时 pip install。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公开源码依据：https://github.com/spike677/CATMonitor/tree/5a3537cfc0cd1420c5e63bb4991e72c832781eca</a:t>
            </a:r>
          </a:p>
          <a:p xmlns:a="http://schemas.openxmlformats.org/drawingml/2006/main">
            <a:r>
              <a:t>相关文件：scripts/stress/generate_stress_deployment.sh，docker/docker-compose.yml，docker/docker-compose.npu.yml，docker/docker-compose.stress.yml，features/stress/static/stress.js，features/stress/workloadplugin/npu_model_linux.go，docker/stress/npu/model_sdc.py。</a:t>
            </a:r>
          </a:p>
          <a:p xmlns:a="http://schemas.openxmlformats.org/drawingml/2006/main">
            <a:r>
              <a:t>内容核对日期：2026-10-14。以下为 A2 ARM64 候选版使用说明，不代表 A3 配套或官方软件栈认证。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【安全边界】</a:t>
            </a:r>
          </a:p>
          <a:p xmlns:a="http://schemas.openxmlformats.org/drawingml/2006/main">
            <a:r>
              <a:t>以下是新部署示例，以 root 或具备 Docker 权限的管理员身份执行。先盘点同名 workload 容器和 19320/19322/19323/9333 端口。项目名隔离不会隔离 host network 端口，也不会覆盖 workload 的固定 container_name。发现冲突就停止并制定维护窗口，不能 docker rm -f 或 docker compose down 其他业务。不要对整台机器 docker prune。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宿主检查：</a:t>
            </a:r>
          </a:p>
          <a:p xmlns:a="http://schemas.openxmlformats.org/drawingml/2006/main">
            <a:r>
              <a:t>uname -m</a:t>
            </a:r>
          </a:p>
          <a:p xmlns:a="http://schemas.openxmlformats.org/drawingml/2006/main">
            <a:r>
              <a:t>docker version</a:t>
            </a:r>
          </a:p>
          <a:p xmlns:a="http://schemas.openxmlformats.org/drawingml/2006/main">
            <a:r>
              <a:t>docker compose version</a:t>
            </a:r>
          </a:p>
          <a:p xmlns:a="http://schemas.openxmlformats.org/drawingml/2006/main">
            <a:r>
              <a:t>npu-smi info</a:t>
            </a:r>
          </a:p>
          <a:p xmlns:a="http://schemas.openxmlformats.org/drawingml/2006/main">
            <a:r>
              <a:t>ls -l /dev/davinci[0-9]*</a:t>
            </a:r>
          </a:p>
          <a:p xmlns:a="http://schemas.openxmlformats.org/drawingml/2006/main">
            <a:r>
              <a:t>docker ps -a --format 'table {{.Names}}\t{{.Image}}\t{{.Status}}'</a:t>
            </a:r>
          </a:p>
          <a:p xmlns:a="http://schemas.openxmlformats.org/drawingml/2006/main">
            <a:r>
              <a:t>ss -lntp</a:t>
            </a:r>
          </a:p>
          <a:p xmlns:a="http://schemas.openxmlformats.org/drawingml/2006/main">
            <a:r>
              <a:t>docker info --format '{{.DockerRootDir}}'</a:t>
            </a:r>
          </a:p>
          <a:p xmlns:a="http://schemas.openxmlformats.org/drawingml/2006/main">
            <a:r>
              <a:t>df -h / /home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确认 compose 中宿主绑定路径确实存在，特别是 driver/lib64、driver/version.info、/etc/ascend_install.info、/usr/local/dcmi、npu-smi，以及监控 overlay 的 hccn_tool/nnae/ascend-toolkit。节点路径不同先用获准的本地 override 修正，不能把不存在的文件路径自动创建成目录。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【完整生成命令】</a:t>
            </a:r>
          </a:p>
          <a:p xmlns:a="http://schemas.openxmlformats.org/drawingml/2006/main">
            <a:r>
              <a:t>G=/etc/catmonitor/a2-stress</a:t>
            </a:r>
          </a:p>
          <a:p xmlns:a="http://schemas.openxmlformats.org/drawingml/2006/main">
            <a:r>
              <a:t>OUT=/var/lib/catmonitor/npu-output</a:t>
            </a:r>
          </a:p>
          <a:p xmlns:a="http://schemas.openxmlformats.org/drawingml/2006/main">
            <a:r>
              <a:t>install -d -m 0750 "$G" "$OUT" /var/lib/catmonitor/stress</a:t>
            </a:r>
          </a:p>
          <a:p xmlns:a="http://schemas.openxmlformats.org/drawingml/2006/main">
            <a:r>
              <a:t>bash scripts/stress/generate_stress_deployment.sh \</a:t>
            </a:r>
          </a:p>
          <a:p xmlns:a="http://schemas.openxmlformats.org/drawingml/2006/main">
            <a:r>
              <a:t>  --output-dir "$G" --control-image "$CONTROL" \</a:t>
            </a:r>
          </a:p>
          <a:p xmlns:a="http://schemas.openxmlformats.org/drawingml/2006/main">
            <a:r>
              <a:t>  --cpu-image "$CPU" --npu-image "$NPU" \</a:t>
            </a:r>
          </a:p>
          <a:p xmlns:a="http://schemas.openxmlformats.org/drawingml/2006/main">
            <a:r>
              <a:t>  --stream-threads 1 \</a:t>
            </a:r>
          </a:p>
          <a:p xmlns:a="http://schemas.openxmlformats.org/drawingml/2006/main">
            <a:r>
              <a:t>  --hpl-profile small --hpl-processes 1 --hpl-threads 1 \</a:t>
            </a:r>
          </a:p>
          <a:p xmlns:a="http://schemas.openxmlformats.org/drawingml/2006/main">
            <a:r>
              <a:t>  --hpcg-processes 1 --hpcg-threads 1 \</a:t>
            </a:r>
          </a:p>
          <a:p xmlns:a="http://schemas.openxmlformats.org/drawingml/2006/main">
            <a:r>
              <a:t>  --hpcg-nx 32 --hpcg-ny 32 --hpcg-nz 32 --hpcg-runtime 60 \</a:t>
            </a:r>
          </a:p>
          <a:p xmlns:a="http://schemas.openxmlformats.org/drawingml/2006/main">
            <a:r>
              <a:t>  --npu-chip-generation A2 --npu-runtime runc \</a:t>
            </a:r>
          </a:p>
          <a:p xmlns:a="http://schemas.openxmlformats.org/drawingml/2006/main">
            <a:r>
              <a:t>  --npu-device-mode full --npu-security-profile legacy-privileged \</a:t>
            </a:r>
          </a:p>
          <a:p xmlns:a="http://schemas.openxmlformats.org/drawingml/2006/main">
            <a:r>
              <a:t>  --npu-burn-device 0 --npu-allowed-devices 0,1 \</a:t>
            </a:r>
          </a:p>
          <a:p xmlns:a="http://schemas.openxmlformats.org/drawingml/2006/main">
            <a:r>
              <a:t>  --npu-run-case matmul --npu-threads 1 \</a:t>
            </a:r>
          </a:p>
          <a:p xmlns:a="http://schemas.openxmlformats.org/drawingml/2006/main">
            <a:r>
              <a:t>  --npu-output-dir "$OUT" \</a:t>
            </a:r>
          </a:p>
          <a:p xmlns:a="http://schemas.openxmlformats.org/drawingml/2006/main">
            <a:r>
              <a:t>  --npu-ascend-env-script /usr/local/Ascend/cann-8.5.1/set_env.sh \</a:t>
            </a:r>
          </a:p>
          <a:p xmlns:a="http://schemas.openxmlformats.org/drawingml/2006/main">
            <a:r>
              <a:t>  --npu-allowed-models gpt3,llama2 \</a:t>
            </a:r>
          </a:p>
          <a:p xmlns:a="http://schemas.openxmlformats.org/drawingml/2006/main">
            <a:r>
              <a:t>  --allow-npu-reference-generation \</a:t>
            </a:r>
          </a:p>
          <a:p xmlns:a="http://schemas.openxmlformats.org/drawingml/2006/main">
            <a:r>
              <a:t>  --npu-model-memory-mode checkpointed \</a:t>
            </a:r>
          </a:p>
          <a:p xmlns:a="http://schemas.openxmlformats.org/drawingml/2006/main">
            <a:r>
              <a:t>  --enable-web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export CATMONITOR_IMAGE="$CONTROL"</a:t>
            </a:r>
          </a:p>
          <a:p xmlns:a="http://schemas.openxmlformats.org/drawingml/2006/main">
            <a:r>
              <a:t>export CATMONITOR_WEB_ADDR=:19322</a:t>
            </a:r>
          </a:p>
          <a:p xmlns:a="http://schemas.openxmlformats.org/drawingml/2006/main">
            <a:r>
              <a:t>dc() {</a:t>
            </a:r>
          </a:p>
          <a:p xmlns:a="http://schemas.openxmlformats.org/drawingml/2006/main">
            <a:r>
              <a:t>  docker compose -p catmonitor-a2 \</a:t>
            </a:r>
          </a:p>
          <a:p xmlns:a="http://schemas.openxmlformats.org/drawingml/2006/main">
            <a:r>
              <a:t>    -f docker/docker-compose.yml \</a:t>
            </a:r>
          </a:p>
          <a:p xmlns:a="http://schemas.openxmlformats.org/drawingml/2006/main">
            <a:r>
              <a:t>    -f docker/docker-compose.npu.yml \</a:t>
            </a:r>
          </a:p>
          <a:p xmlns:a="http://schemas.openxmlformats.org/drawingml/2006/main">
            <a:r>
              <a:t>    -f docker/docker-compose.stress.yml \</a:t>
            </a:r>
          </a:p>
          <a:p xmlns:a="http://schemas.openxmlformats.org/drawingml/2006/main">
            <a:r>
              <a:t>    -f "$G/docker-compose.stress.generated.yml" \</a:t>
            </a:r>
          </a:p>
          <a:p xmlns:a="http://schemas.openxmlformats.org/drawingml/2006/main">
            <a:r>
              <a:t>    --profile stress-cpu --profile stress-npu "$@"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dc config --services</a:t>
            </a:r>
          </a:p>
          <a:p xmlns:a="http://schemas.openxmlformats.org/drawingml/2006/main">
            <a:r>
              <a:t>dc config</a:t>
            </a:r>
          </a:p>
          <a:p xmlns:a="http://schemas.openxmlformats.org/drawingml/2006/main">
            <a:r>
              <a:t>dc up -d</a:t>
            </a:r>
          </a:p>
          <a:p xmlns:a="http://schemas.openxmlformats.org/drawingml/2006/main">
            <a:r>
              <a:t>dc ps</a:t>
            </a:r>
          </a:p>
          <a:p xmlns:a="http://schemas.openxmlformats.org/drawingml/2006/main">
            <a:r>
              <a:t>dc exec -T catmonitor catmonitor stress doctor -c /etc/catmonitor/catmonitor.yaml -o table</a:t>
            </a:r>
          </a:p>
          <a:p xmlns:a="http://schemas.openxmlformats.org/drawingml/2006/main">
            <a:r>
              <a:t>curl -fsS http://127.0.0.1:19320/-/ready</a:t>
            </a:r>
          </a:p>
          <a:p xmlns:a="http://schemas.openxmlformats.org/drawingml/2006/main">
            <a:r>
              <a:t>curl -fsS http://127.0.0.1:19322/api/stress/config</a:t>
            </a:r>
          </a:p>
          <a:p xmlns:a="http://schemas.openxmlformats.org/drawingml/2006/main">
            <a:r>
              <a:t>curl -fsS -o /dev/null http://127.0.0.1:19323/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这组参数保留 full 模式已有 A2 runc 权限契约。legacy-privileged 为高权限，应由管理员审核，不能作为预检失败后的随意升级手段。Web/DFeE 不挂 Docker socket，只有 daemon/controller 挂载。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预检目标：CPU stream/hpl/hpcg 三项、NPU 一项均可用。若有业务占用 NPU，应等待空闲窗口，不把 busy 误判成安装失败。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生成器发现宿主节点但不替管理员认证任意节点的 logical/物理映射。124 的宿主节点 2、5 对应运行时可选 0、1 是既有实测示例，不能当跨平台永久映射。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数据：snapshot/data/csv 使用项目命名卷；Stress history 在 /var/lib/catmonitor/stress；NPU CSV 持久化到 OUT；模型参考存于 workload state 的 model-references。不要删除这些卷作为日常更新步骤。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公开源码依据：https://github.com/spike677/CATMonitor/tree/5a3537cfc0cd1420c5e63bb4991e72c832781eca</a:t>
            </a:r>
          </a:p>
          <a:p xmlns:a="http://schemas.openxmlformats.org/drawingml/2006/main">
            <a:r>
              <a:t>相关文件：scripts/stress/generate_stress_deployment.sh，docker/docker-compose.yml，docker/docker-compose.npu.yml，docker/docker-compose.stress.yml，features/stress/static/stress.js，features/stress/workloadplugin/npu_model_linux.go，docker/stress/npu/model_sdc.py。</a:t>
            </a:r>
          </a:p>
          <a:p xmlns:a="http://schemas.openxmlformats.org/drawingml/2006/main">
            <a:r>
              <a:t>内容核对日期：2026-10-14。以下为 A2 ARM64 候选版使用说明，不代表 A3 配套或官方软件栈认证。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【HPL 与 HPCG 的现场问题】</a:t>
            </a:r>
          </a:p>
          <a:p xmlns:a="http://schemas.openxmlformats.org/drawingml/2006/main">
            <a:r>
              <a:t>旧/新 cpu-workload.env 完全相同并不能证明 HPL 网格正确。HPL_N/NB/P/Q 留空时使用镜像 HPL.dat，若其中 P=4,Q=2 而 ranks=1，则 doctor 正确拒绝 4×2!=1。</a:t>
            </a:r>
          </a:p>
          <a:p xmlns:a="http://schemas.openxmlformats.org/drawingml/2006/main">
            <a:r>
              <a:t>使用 --hpl-profile small --hpl-processes 1 --hpl-threads 1，得到 N4096/NB256/P1/Q1。不要只给 --hpl-p 1 --hpl-q 1，当前生成器要求 N/NB/P/Q 四项成组设置。显式等价参数为 --hpl-n 4096 --hpl-nb 256 --hpl-p 1 --hpl-q 1 --hpl-processes 1。</a:t>
            </a:r>
          </a:p>
          <a:p xmlns:a="http://schemas.openxmlformats.org/drawingml/2006/main">
            <a:r>
              <a:t>HPCG 参数独立：--hpcg-processes 1 --hpcg-threads 1 --hpcg-nx 32 --hpcg-ny 32 --hpcg-nz 32 --hpcg-runtime 60。STREAM_THREADS=0 意味着不设置 OMP 线程数，不等于运行零线程。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【模型参数变体，无需重编镜像】</a:t>
            </a:r>
          </a:p>
          <a:p xmlns:a="http://schemas.openxmlformats.org/drawingml/2006/main">
            <a:r>
              <a:t>先准备同一镜像版本的完整 JSON 配置目录，不裁掉 A3 或其他原始配置。下面示例创建独立的小步数变体，参数只是示例，并不保证当前节点显存或 SDC 已通过：</a:t>
            </a:r>
          </a:p>
          <a:p xmlns:a="http://schemas.openxmlformats.org/drawingml/2006/main">
            <a:r>
              <a:t>python3 scripts/stress/npu_config_profile.py \</a:t>
            </a:r>
          </a:p>
          <a:p xmlns:a="http://schemas.openxmlformats.org/drawingml/2006/main">
            <a:r>
              <a:t>  --source-dir /opt/catmonitor/npu-config/base \</a:t>
            </a:r>
          </a:p>
          <a:p xmlns:a="http://schemas.openxmlformats.org/drawingml/2006/main">
            <a:r>
              <a:t>  --output-dir /opt/catmonitor/npu-config/a2-v1 \</a:t>
            </a:r>
          </a:p>
          <a:p xmlns:a="http://schemas.openxmlformats.org/drawingml/2006/main">
            <a:r>
              <a:t>  --batch-size 1 --num-warmup 2 --run-count 10</a:t>
            </a:r>
          </a:p>
          <a:p xmlns:a="http://schemas.openxmlformats.org/drawingml/2006/main">
            <a:r>
              <a:t>python3 scripts/stress/npu_config_profile.py \</a:t>
            </a:r>
          </a:p>
          <a:p xmlns:a="http://schemas.openxmlformats.org/drawingml/2006/main">
            <a:r>
              <a:t>  --validate-dir /opt/catmonitor/npu-config/a2-v1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在上一页完整 generator 命令中增加：</a:t>
            </a:r>
          </a:p>
          <a:p xmlns:a="http://schemas.openxmlformats.org/drawingml/2006/main">
            <a:r>
              <a:t>--npu-config-dir /opt/catmonitor/npu-config/a2-v1</a:t>
            </a:r>
          </a:p>
          <a:p xmlns:a="http://schemas.openxmlformats.org/drawingml/2006/main">
            <a:r>
              <a:t>需要激活重计算则设置 --npu-model-memory-mode checkpointed。改变 memory mode、模型参数或运行软件栈后，旧参考必须重新匹配检查，不能绕过哈希。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【更新】</a:t>
            </a:r>
          </a:p>
          <a:p xmlns:a="http://schemas.openxmlformats.org/drawingml/2006/main">
            <a:r>
              <a:t>1. 先用 dc exec -T catmonitor catmonitor stress status -o table 确认无活动 Job。</a:t>
            </a:r>
          </a:p>
          <a:p xmlns:a="http://schemas.openxmlformats.org/drawingml/2006/main">
            <a:r>
              <a:t>2. 备份当前 generated 目录，保留镜像 digest、Compose config 和数据卷。</a:t>
            </a:r>
          </a:p>
          <a:p xmlns:a="http://schemas.openxmlformats.org/drawingml/2006/main">
            <a:r>
              <a:t>3. 使用完整 generator 参数输出到新的 G 目录，完整保留模型授权、设备 allowlist 和原有效 CPU 参数，避免局部复制丢配置。</a:t>
            </a:r>
          </a:p>
          <a:p xmlns:a="http://schemas.openxmlformats.org/drawingml/2006/main">
            <a:r>
              <a:t>4. 更新 G 后 dc config，检查最终 image、environment、devices、volumes 和 profile。</a:t>
            </a:r>
          </a:p>
          <a:p xmlns:a="http://schemas.openxmlformats.org/drawingml/2006/main">
            <a:r>
              <a:t>5. 只对受影响服务执行 dc up -d --no-deps --force-recreate；单独 CPU 改参只列 catmonitor-stress-cpu，Controller YAML 改变才列 catmonitor，NPU env/config 变化才列 catmonitor-stress-npu。</a:t>
            </a:r>
          </a:p>
          <a:p xmlns:a="http://schemas.openxmlformats.org/drawingml/2006/main">
            <a:r>
              <a:t>6. 再做 doctor 与模型只读预检。直接改挂载目录的文件不会得到原子切换保证，禁止在运行 Job 中改配置。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【CLI 例子】</a:t>
            </a:r>
          </a:p>
          <a:p xmlns:a="http://schemas.openxmlformats.org/drawingml/2006/main">
            <a:r>
              <a:t>dc exec -T catmonitor catmonitor stress run \</a:t>
            </a:r>
          </a:p>
          <a:p xmlns:a="http://schemas.openxmlformats.org/drawingml/2006/main">
            <a:r>
              <a:t>  --bench npu_burn --npu-devices 0,1 --npu-cases matmul,conv2d -o table</a:t>
            </a:r>
          </a:p>
          <a:p xmlns:a="http://schemas.openxmlformats.org/drawingml/2006/main">
            <a:r>
              <a:t>dc exec -T catmonitor catmonitor stress status -o table</a:t>
            </a:r>
          </a:p>
          <a:p xmlns:a="http://schemas.openxmlformats.org/drawingml/2006/main">
            <a:r>
              <a:t>dc exec -T catmonitor catmonitor stress cancel --job '&lt;实际 Job ID&gt;'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作业请求与实际 CSV 的设备/算子不一致时不能判总体成功。Cancel 始终按 Job ID，不依据当前网页勾选，也不杀其他业务进程。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公开源码依据：https://github.com/spike677/CATMonitor/tree/5a3537cfc0cd1420c5e63bb4991e72c832781eca</a:t>
            </a:r>
          </a:p>
          <a:p xmlns:a="http://schemas.openxmlformats.org/drawingml/2006/main">
            <a:r>
              <a:t>相关文件：scripts/stress/generate_stress_deployment.sh，docker/docker-compose.yml，docker/docker-compose.npu.yml，docker/docker-compose.stress.yml，features/stress/static/stress.js，features/stress/workloadplugin/npu_model_linux.go，docker/stress/npu/model_sdc.py。</a:t>
            </a:r>
          </a:p>
          <a:p xmlns:a="http://schemas.openxmlformats.org/drawingml/2006/main">
            <a:r>
              <a:t>内容核对日期：2026-10-14。以下为 A2 ARM64 候选版使用说明，不代表 A3 配套或官方软件栈认证。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截图来源：http://123.60.231.86:5001/stress/ ，2026-10-14 从当前开源 A2 页面直接截图。5001 是该实验环境的访问入口，产品默认 Web 端口仍是 19322。未访问闭源节点，未执行新 workload。</a:t>
            </a:r>
          </a:p>
          <a:p xmlns:a="http://schemas.openxmlformats.org/drawingml/2006/main">
            <a:r>
              <a:t>算子历史 Job：a50991c39e2680f7，2026-10-13 10:48:32，CLI，matmul，logical0/1，各210/210记录、总420/420、err_count0、1.99分钟。</a:t>
            </a:r>
          </a:p>
          <a:p xmlns:a="http://schemas.openxmlformats.org/drawingml/2006/main">
            <a:r>
              <a:t>模型历史 Job：6019333d43cc31dc，2026-10-13 17:46:54，Web，llama2，compare，参考ID llama2-b32-cp-dual-1791882886，logical0/1，比较72步，保存0步，检测错误0，激活重计算。该历史报告不替代今天候选镜像的新硬件验收。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【Web 算子操作】</a:t>
            </a:r>
          </a:p>
          <a:p xmlns:a="http://schemas.openxmlformats.org/drawingml/2006/main">
            <a:r>
              <a:t>1. 进入 /stress/，只勾选 NPU Burn。</a:t>
            </a:r>
          </a:p>
          <a:p xmlns:a="http://schemas.openxmlformats.org/drawingml/2006/main">
            <a:r>
              <a:t>2. 选择获准且确认空闲的 logical 设备，再选算子。当前可选列表来自镜像能力/准入结果，不是实机认证清单。</a:t>
            </a:r>
          </a:p>
          <a:p xmlns:a="http://schemas.openxmlformats.org/drawingml/2006/main">
            <a:r>
              <a:t>3. 展开“已选算子的 tensor 参数（只读）”查看 shape、dtype、pattern、run_count。需要修改参数时走外部配置，而非在浏览器改只读字段。</a:t>
            </a:r>
          </a:p>
          <a:p xmlns:a="http://schemas.openxmlformats.org/drawingml/2006/main">
            <a:r>
              <a:t>4. 确认请求后点“开始压测”，由唯一 Controller 重新预检并创建 Job。CLI 与 Web 可见同一作业。</a:t>
            </a:r>
          </a:p>
          <a:p xmlns:a="http://schemas.openxmlformats.org/drawingml/2006/main">
            <a:r>
              <a:t>5. 完成后核对实际设备/算子、当前作业 CSV 完整性、全部 PASS 与检测错误0。用例数不是卡数、算子数或迭代次数。</a:t>
            </a:r>
          </a:p>
          <a:p xmlns:a="http://schemas.openxmlformats.org/drawingml/2006/main">
            <a:r>
              <a:t>6. 按 Job ID 取消，不根据当前选项取消。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【模型参考与 SDC 的正确流程】</a:t>
            </a:r>
          </a:p>
          <a:p xmlns:a="http://schemas.openxmlformats.org/drawingml/2006/main">
            <a:r>
              <a:t>Controller 必须允许模型，并设置 allow_npu_reference_generation=true。</a:t>
            </a:r>
          </a:p>
          <a:p xmlns:a="http://schemas.openxmlformats.org/drawingml/2006/main">
            <a:r>
              <a:t>1. 选择 NPU Burn 后切换“模型 SDC”，选择 GPT3 或 Llama2。</a:t>
            </a:r>
          </a:p>
          <a:p xmlns:a="http://schemas.openxmlformats.org/drawingml/2006/main">
            <a:r>
              <a:t>2. 第一次使用：展开“首次使用：准备参考”，点“切换到生成参考（单卡）”。只选择一张已确认健康、获准、空闲的逻辑卡，填写新的参考 ID。切换按钮本身不会生成参考。</a:t>
            </a:r>
          </a:p>
          <a:p xmlns:a="http://schemas.openxmlformats.org/drawingml/2006/main">
            <a:r>
              <a:t>3. 点“预检本次选择（不训练）”，通过后再点主按钮“生成参考”并确认。生成参考会实际运行模型，占用 NPU。</a:t>
            </a:r>
          </a:p>
          <a:p xmlns:a="http://schemas.openxmlformats.org/drawingml/2006/main">
            <a:r>
              <a:t>4. 完成报告要求 outcome=reference_generated，saved_steps=expected_steps，errors=0。仅目录存在或文件存在不算成功。参考会持久化到 CATMONITOR_MODEL_REFERENCE_ROOT，并记录当前配置和运行栈身份。</a:t>
            </a:r>
          </a:p>
          <a:p xmlns:a="http://schemas.openxmlformats.org/drawingml/2006/main">
            <a:r>
              <a:t>5. 切回对照模式，选择同一模型，填写对应 reference ID，在参数、软件栈和显存策略匹配的条件下再次预检并“开始 SDC 检测”。</a:t>
            </a:r>
          </a:p>
          <a:p xmlns:a="http://schemas.openxmlformats.org/drawingml/2006/main">
            <a:r>
              <a:t>6. 最终 outcome=sdc_passed，每个请求设备都有完整 checked_steps，errors=0。</a:t>
            </a:r>
          </a:p>
          <a:p xmlns:a="http://schemas.openxmlformats.org/drawingml/2006/main">
            <a:r>
              <a:t>7. 普通 NPU doctor PASS 不保证模型预检或训练通过。case_catalog 中模型 selectable=false 仅表示不作为算子，不代表模型未支持或参考不存在。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【端口与安全】</a:t>
            </a:r>
          </a:p>
          <a:p xmlns:a="http://schemas.openxmlformats.org/drawingml/2006/main">
            <a:r>
              <a:t>可直连节点时无需 SSH 隧道：监控 /，Stress /stress/，DFeE :19323/，Exporter :19320/metrics（DFeE Exporter :9333/metrics）。设置 CATMONITOR_WEB_ADDR=:19322，放行可信来源访问。当前 Stress Run/Cancel 尚无认证/RBAC，不应直接暴露公网或不可信网络。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截图期间页面一度提示 workload 容器未运行，随后自动刷新为预检通过。说明当前可用性与历史 PASS 是不同状态，不能用历史结果掩盖现有故障。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a81b59f61c4e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c03f59a28d4ec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bd41a4a6f54d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dd161cb14b40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c1ca768aa242b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a02c9f9b6641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0182C2-5200-4880-91D6-04514BD01D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7E34CEF-4006-4C45-89DE-DCDE2426C75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905BC25-63A1-423A-AACF-63C72518C8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11FC54-BCB5-4DB1-B03B-CED2F84F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94ED30F-8286-4742-95E3-3C99A31436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852DF87-EAD7-48C6-A314-114BE78849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CB3632-1560-47B1-A4F5-350F4C5DA4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D672B22-480A-4787-AB7E-088ED0332C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F075BC-F153-453C-BB24-2BD3C9495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5F35446-37A0-47A7-9D51-5D5B96CB8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d64f1c4c81427c" /><Relationship Type="http://schemas.openxmlformats.org/officeDocument/2006/relationships/slideLayout" Target="/ppt/slideLayouts/slideLayout1.xml" Id="Rdb30268228344970" /><Relationship Type="http://schemas.openxmlformats.org/officeDocument/2006/relationships/slideLayout" Target="/ppt/slideLayouts/slideLayout2.xml" Id="Rb194674b67ca4ec6" /><Relationship Type="http://schemas.openxmlformats.org/officeDocument/2006/relationships/slideLayout" Target="/ppt/slideLayouts/slideLayout3.xml" Id="R43b59c1ebcc04250" /><Relationship Type="http://schemas.openxmlformats.org/officeDocument/2006/relationships/slideLayout" Target="/ppt/slideLayouts/slideLayout4.xml" Id="R60919f8a5a434d9a" /><Relationship Type="http://schemas.openxmlformats.org/officeDocument/2006/relationships/slideLayout" Target="/ppt/slideLayouts/slideLayout5.xml" Id="Rc6419d93a0e94456" /><Relationship Type="http://schemas.openxmlformats.org/officeDocument/2006/relationships/slideLayout" Target="/ppt/slideLayouts/slideLayout6.xml" Id="Re691c4341ac14f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30268228344970"/>
    <p:sldLayoutId xmlns:r="http://schemas.openxmlformats.org/officeDocument/2006/relationships" id="2147483650" r:id="Rb194674b67ca4ec6"/>
    <p:sldLayoutId xmlns:r="http://schemas.openxmlformats.org/officeDocument/2006/relationships" id="2147483651" r:id="R43b59c1ebcc04250"/>
    <p:sldLayoutId xmlns:r="http://schemas.openxmlformats.org/officeDocument/2006/relationships" id="2147483652" r:id="R60919f8a5a434d9a"/>
    <p:sldLayoutId xmlns:r="http://schemas.openxmlformats.org/officeDocument/2006/relationships" id="2147483653" r:id="Rc6419d93a0e94456"/>
    <p:sldLayoutId xmlns:r="http://schemas.openxmlformats.org/officeDocument/2006/relationships" id="2147483654" r:id="Re691c4341ac14f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61ea11acff4e2f" /><Relationship Type="http://schemas.openxmlformats.org/officeDocument/2006/relationships/notesSlide" Target="/ppt/notesSlides/notesSlide1.xml" Id="Rff21d02ef13e41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d2b20067444806" /><Relationship Type="http://schemas.openxmlformats.org/officeDocument/2006/relationships/notesSlide" Target="/ppt/notesSlides/notesSlide2.xml" Id="R64ec8225d80f4a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fb0293958045df" /><Relationship Type="http://schemas.openxmlformats.org/officeDocument/2006/relationships/notesSlide" Target="/ppt/notesSlides/notesSlide3.xml" Id="R42a8e56ba33344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49ab1161f4a6f" /><Relationship Type="http://schemas.openxmlformats.org/officeDocument/2006/relationships/notesSlide" Target="/ppt/notesSlides/notesSlide4.xml" Id="Reb11af90f5e24f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23d8c1b7f740b3" /><Relationship Type="http://schemas.openxmlformats.org/officeDocument/2006/relationships/image" Target="/ppt/media/image.jpeg" Id="R7dbf1a07c0f94008" /><Relationship Type="http://schemas.openxmlformats.org/officeDocument/2006/relationships/image" Target="/ppt/media/image2.jpeg" Id="R1a2523cca11a434c" /><Relationship Type="http://schemas.openxmlformats.org/officeDocument/2006/relationships/notesSlide" Target="/ppt/notesSlides/notesSlide5.xml" Id="R762c3af6a9624fc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C1465ABF-C640-41AF-8DF2-0FE7D6E9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NPU Burn：算子压测与模型 SDC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71468E4-C44A-4E8A-8E13-E6D634EF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390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CATMonitor A2 使用指南　ARM64 候选版本　2026-10-14</a:t>
            </a:r>
          </a:p>
        </p:txBody>
      </p:sp>
      <p:sp>
        <p:nvSpPr>
          <p:cNvPr id="3" name="operator-head">
            <a:extLst xmlns:a="http://schemas.openxmlformats.org/drawingml/2006/main">
              <a:ext uri="{FF2B5EF4-FFF2-40B4-BE49-F238E27FC236}">
                <a16:creationId xmlns:a16="http://schemas.microsoft.com/office/drawing/2014/main" id="{EEA5B1B7-9758-4A1F-BB9D-625180A9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算子压测</a:t>
            </a:r>
          </a:p>
        </p:txBody>
      </p:sp>
      <p:sp>
        <p:nvSpPr>
          <p:cNvPr id="4" name="operator-body">
            <a:extLst xmlns:a="http://schemas.openxmlformats.org/drawingml/2006/main">
              <a:ext uri="{FF2B5EF4-FFF2-40B4-BE49-F238E27FC236}">
                <a16:creationId xmlns:a16="http://schemas.microsoft.com/office/drawing/2014/main" id="{E897DC4B-AE0E-4FE0-9820-24887F691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600075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选择已授权的逻辑设备和算子，在指定 tensor 配置下执行计算与结果校验。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结果按设备、算子及 CSV 用例记录汇总，检测错误必须为 0。</a:t>
            </a:r>
          </a:p>
        </p:txBody>
      </p:sp>
      <p:sp>
        <p:nvSpPr>
          <p:cNvPr id="5" name="model-head">
            <a:extLst xmlns:a="http://schemas.openxmlformats.org/drawingml/2006/main">
              <a:ext uri="{FF2B5EF4-FFF2-40B4-BE49-F238E27FC236}">
                <a16:creationId xmlns:a16="http://schemas.microsoft.com/office/drawing/2014/main" id="{CAB95D1B-D947-4C74-81A2-9499E51B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模型 SDC</a:t>
            </a:r>
          </a:p>
        </p:txBody>
      </p:sp>
      <p:sp>
        <p:nvSpPr>
          <p:cNvPr id="6" name="model-body">
            <a:extLst xmlns:a="http://schemas.openxmlformats.org/drawingml/2006/main">
              <a:ext uri="{FF2B5EF4-FFF2-40B4-BE49-F238E27FC236}">
                <a16:creationId xmlns:a16="http://schemas.microsoft.com/office/drawing/2014/main" id="{9666B96D-DC6F-41B2-B923-E6E4F498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6000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GPT3 / Llama2 先在健康单卡生成参考，再用匹配配置进行对照。参考是训练标准结果，不是预训练权重。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多卡逐卡独立运行，不合并显存。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6F7DC-AA3F-4355-B793-1EC7D8A5A7BB}"/>
              </a:ext>
            </a:extLst>
          </p:cNvPr>
          <p:cNvGraphicFramePr/>
          <p:nvPr/>
        </p:nvGraphicFramePr>
        <p:xfrm>
          <a:off xmlns:a="http://schemas.openxmlformats.org/drawingml/2006/main" x="7143750" y="1885950"/>
          <a:ext xmlns:a="http://schemas.openxmlformats.org/drawingml/2006/main" cx="7486650" cy="42100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90750"/>
                <a:gridCol w="5295900"/>
              </a:tblGrid>
              <a:tr h="49530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具体含义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</a:tr>
              <a:tr h="7429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逻辑设备 0、1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运行时索引，与宿主 davinci 编号分开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算子 / 模型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matmul、conv2d 等 / GPT3、Llama2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Tensor 配置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shape、dtype、pattern、run_count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参考 ID / 操作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create_reference 或 compare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作业时限 1800 s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超时上限，不等于持续压测 30 分钟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limits">
            <a:extLst xmlns:a="http://schemas.openxmlformats.org/drawingml/2006/main">
              <a:ext uri="{FF2B5EF4-FFF2-40B4-BE49-F238E27FC236}">
                <a16:creationId xmlns:a16="http://schemas.microsoft.com/office/drawing/2014/main" id="{201D460A-ABD1-48B9-8F5F-279614DA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6705600"/>
            <a:ext cx="74866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预检通过只说明准入条件满足。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A2 quant_matmul 缺少上游策略，不能套用 A3/A5。</a:t>
            </a:r>
          </a:p>
        </p:txBody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94C3CDA-242D-4E11-9150-983F9DD95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48625"/>
            <a:ext cx="1333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统一 Controller 管理 CLI / Web 作业、状态、历史与取消。Stress 结果不计入监控健康分。</a:t>
            </a:r>
          </a:p>
        </p:txBody>
      </p:sp>
      <p:sp>
        <p:nvSpPr>
          <p:cNvPr id="10" name="page">
            <a:extLst xmlns:a="http://schemas.openxmlformats.org/drawingml/2006/main">
              <a:ext uri="{FF2B5EF4-FFF2-40B4-BE49-F238E27FC236}">
                <a16:creationId xmlns:a16="http://schemas.microsoft.com/office/drawing/2014/main" id="{11915FE6-F597-427E-BB20-92514CD5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819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644357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">
            <a:extLst xmlns:a="http://schemas.openxmlformats.org/drawingml/2006/main">
              <a:ext uri="{FF2B5EF4-FFF2-40B4-BE49-F238E27FC236}">
                <a16:creationId xmlns:a16="http://schemas.microsoft.com/office/drawing/2014/main" id="{32EC5047-3370-4828-B47A-953ACA5E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下载：三张镜像分别包含什么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056C861-34B3-4253-BA45-B5AFF372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390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适用 A2 / linux/arm64。已有镜像可直接创建容器，无需在目标节点重新编译或安装 wheel。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F0FC79-3735-4A67-8E92-DE1A297B94BD}"/>
              </a:ext>
            </a:extLst>
          </p:cNvPr>
          <p:cNvGraphicFramePr/>
          <p:nvPr/>
        </p:nvGraphicFramePr>
        <p:xfrm>
          <a:off xmlns:a="http://schemas.openxmlformats.org/drawingml/2006/main" x="609600" y="1685925"/>
          <a:ext xmlns:a="http://schemas.openxmlformats.org/drawingml/2006/main" cx="14020800" cy="2905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333750"/>
                <a:gridCol w="6334125"/>
                <a:gridCol w="4352925"/>
              </a:tblGrid>
              <a:tr h="45720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镜像仓库名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镜像包含的内容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用途 / 按需下载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</a:tr>
              <a:tr h="790575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catmonitor-npu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CATMonitor daemon / CLI / Controller、Web、DFeE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基础监控与控制面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一张镜像启动 3 个服务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catmonitor-stress-cpu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STREAM、HPL、HPCG、MPI、OpenBLAS、workload executor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启用 CPU 压测时下载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不单独提供 CLI / Web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66775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catmonitor-stress-npu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CANN 8.5.1、torch / torch_npu、NPU Burn、Custom Ops、lspci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启用 NPU / 模型 SDC 时下载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宿主仍需兼容 Ascend 驱动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download-label">
            <a:extLst xmlns:a="http://schemas.openxmlformats.org/drawingml/2006/main">
              <a:ext uri="{FF2B5EF4-FFF2-40B4-BE49-F238E27FC236}">
                <a16:creationId xmlns:a16="http://schemas.microsoft.com/office/drawing/2014/main" id="{837E3360-F7A4-491F-A94C-19150815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714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镜像地址与下载</a:t>
            </a:r>
          </a:p>
        </p:txBody>
      </p:sp>
      <p:sp>
        <p:nvSpPr>
          <p:cNvPr id="5" name="pull-code">
            <a:extLst xmlns:a="http://schemas.openxmlformats.org/drawingml/2006/main">
              <a:ext uri="{FF2B5EF4-FFF2-40B4-BE49-F238E27FC236}">
                <a16:creationId xmlns:a16="http://schemas.microsoft.com/office/drawing/2014/main" id="{72352159-1366-44F3-93CA-97FFA4F5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70485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R=ghcr.io/spike677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T=arm64-v0.3.6-a2-5a3537cfc0cd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CT=arm64-candidate-5a3537c-20261014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CONTROL="$R/catmonitor-npu:$T"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CPU="$R/catmonitor-stress-cpu:$CT"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NPU="$R/catmonitor-stress-npu:$T"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docker pull "$CONTROL"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docker pull "$CPU"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docker pull "$NPU"</a:t>
            </a:r>
          </a:p>
        </p:txBody>
      </p:sp>
      <p:sp>
        <p:nvSpPr>
          <p:cNvPr id="6" name="git-label">
            <a:extLst xmlns:a="http://schemas.openxmlformats.org/drawingml/2006/main">
              <a:ext uri="{FF2B5EF4-FFF2-40B4-BE49-F238E27FC236}">
                <a16:creationId xmlns:a16="http://schemas.microsoft.com/office/drawing/2014/main" id="{A752C19C-454A-4B10-9894-79FE3EED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19650"/>
            <a:ext cx="623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配套源码</a:t>
            </a:r>
          </a:p>
        </p:txBody>
      </p:sp>
      <p:sp>
        <p:nvSpPr>
          <p:cNvPr id="7" name="clone-code">
            <a:extLst xmlns:a="http://schemas.openxmlformats.org/drawingml/2006/main">
              <a:ext uri="{FF2B5EF4-FFF2-40B4-BE49-F238E27FC236}">
                <a16:creationId xmlns:a16="http://schemas.microsoft.com/office/drawing/2014/main" id="{E685CF78-0353-466A-AB7B-3578FFC7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267325"/>
            <a:ext cx="6486525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git clone -b codex/npu-model-a3-migration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https://github.com/spike677/CATMonitor.git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cd CATMonitor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git checkout --detach 5a3537cfc0cd</a:t>
            </a:r>
          </a:p>
        </p:txBody>
      </p:sp>
      <p:sp>
        <p:nvSpPr>
          <p:cNvPr id="8" name="download-size">
            <a:extLst xmlns:a="http://schemas.openxmlformats.org/drawingml/2006/main">
              <a:ext uri="{FF2B5EF4-FFF2-40B4-BE49-F238E27FC236}">
                <a16:creationId xmlns:a16="http://schemas.microsoft.com/office/drawing/2014/main" id="{197EA17B-5380-457A-9E98-863E6351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705600"/>
            <a:ext cx="6486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无缓存下载约：Control 123 MB、CPU 60 MB、NPU 5.94 GB。NPU 落盘约 16.1 GB，还需为结果和构建缓存留空间。</a:t>
            </a:r>
          </a:p>
        </p:txBody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122C24E-41CE-40A2-BE4B-CE8951B98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48625"/>
            <a:ext cx="1333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这些是带提交身份的候选镜像，不用 latest。仅 NPU 模式无需下载 CPU 镜像；离线可 save/load 同一镜像。</a:t>
            </a:r>
          </a:p>
        </p:txBody>
      </p:sp>
      <p:sp>
        <p:nvSpPr>
          <p:cNvPr id="10" name="page">
            <a:extLst xmlns:a="http://schemas.openxmlformats.org/drawingml/2006/main">
              <a:ext uri="{FF2B5EF4-FFF2-40B4-BE49-F238E27FC236}">
                <a16:creationId xmlns:a16="http://schemas.microsoft.com/office/drawing/2014/main" id="{BEE69C35-159C-452A-83DC-27186DCC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819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9402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">
            <a:extLst xmlns:a="http://schemas.openxmlformats.org/drawingml/2006/main">
              <a:ext uri="{FF2B5EF4-FFF2-40B4-BE49-F238E27FC236}">
                <a16:creationId xmlns:a16="http://schemas.microsoft.com/office/drawing/2014/main" id="{5C5232FE-0F60-48DE-BC3B-83652FB3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部署：生成配置后组合 Compose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572610-F4F5-4D0F-8172-72D7EEFA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390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前提：驱动、设备节点、Docker / Compose v2 正常，名称和端口无冲突。新部署不会修改其他业务容器。</a:t>
            </a:r>
          </a:p>
        </p:txBody>
      </p:sp>
      <p:sp>
        <p:nvSpPr>
          <p:cNvPr id="3" name="generate-label">
            <a:extLst xmlns:a="http://schemas.openxmlformats.org/drawingml/2006/main">
              <a:ext uri="{FF2B5EF4-FFF2-40B4-BE49-F238E27FC236}">
                <a16:creationId xmlns:a16="http://schemas.microsoft.com/office/drawing/2014/main" id="{525C5549-A2C1-4CA0-85BC-22727D46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1 生成 A2 配置</a:t>
            </a:r>
          </a:p>
        </p:txBody>
      </p:sp>
      <p:sp>
        <p:nvSpPr>
          <p:cNvPr id="4" name="vars">
            <a:extLst xmlns:a="http://schemas.openxmlformats.org/drawingml/2006/main">
              <a:ext uri="{FF2B5EF4-FFF2-40B4-BE49-F238E27FC236}">
                <a16:creationId xmlns:a16="http://schemas.microsoft.com/office/drawing/2014/main" id="{4B860D99-9286-48E7-8963-CF427D48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67913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G=/etc/catmonitor/a2-stress，先创建目录；CONTROL / CPU / NPU 沿用上一页。</a:t>
            </a:r>
          </a:p>
        </p:txBody>
      </p:sp>
      <p:sp>
        <p:nvSpPr>
          <p:cNvPr id="5" name="generator-code">
            <a:extLst xmlns:a="http://schemas.openxmlformats.org/drawingml/2006/main">
              <a:ext uri="{FF2B5EF4-FFF2-40B4-BE49-F238E27FC236}">
                <a16:creationId xmlns:a16="http://schemas.microsoft.com/office/drawing/2014/main" id="{74765618-4D12-4555-ABDE-E2DE6741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9532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bash scripts/stress/generate_stress_deployment.sh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--output-dir "$G" --control-image "$CONTROL"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--cpu-image "$CPU" --npu-image "$NPU"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--hpl-profile small --hpl-processes 1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--npu-chip-generation A2 --npu-runtime runc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--npu-burn-device 0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--npu-allowed-devices 0,1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--npu-allowed-models gpt3,llama2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--allow-npu-reference-generation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--enable-web</a:t>
            </a:r>
          </a:p>
        </p:txBody>
      </p:sp>
      <p:sp>
        <p:nvSpPr>
          <p:cNvPr id="6" name="device-note">
            <a:extLst xmlns:a="http://schemas.openxmlformats.org/drawingml/2006/main">
              <a:ext uri="{FF2B5EF4-FFF2-40B4-BE49-F238E27FC236}">
                <a16:creationId xmlns:a16="http://schemas.microsoft.com/office/drawing/2014/main" id="{359F220E-6088-476E-94E8-1E49880B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685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设备授权示例为 124 双卡逻辑 0、1。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其他节点按 doctor / 实际拓扑核对，不能把 davinci2、5 填成逻辑设备 2、5。</a:t>
            </a:r>
          </a:p>
        </p:txBody>
      </p:sp>
      <p:sp>
        <p:nvSpPr>
          <p:cNvPr id="7" name="compose-label">
            <a:extLst xmlns:a="http://schemas.openxmlformats.org/drawingml/2006/main">
              <a:ext uri="{FF2B5EF4-FFF2-40B4-BE49-F238E27FC236}">
                <a16:creationId xmlns:a16="http://schemas.microsoft.com/office/drawing/2014/main" id="{E6DB894D-3537-4D27-9918-92535D48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653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2 启动并检查 5 个服务</a:t>
            </a:r>
          </a:p>
        </p:txBody>
      </p:sp>
      <p:sp>
        <p:nvSpPr>
          <p:cNvPr id="8" name="compose-code">
            <a:extLst xmlns:a="http://schemas.openxmlformats.org/drawingml/2006/main">
              <a:ext uri="{FF2B5EF4-FFF2-40B4-BE49-F238E27FC236}">
                <a16:creationId xmlns:a16="http://schemas.microsoft.com/office/drawing/2014/main" id="{5EF486E8-E087-47D8-BB89-BDDFE4F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6534150" cy="3686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export CATMONITOR_IMAGE="$CONTROL"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dc() {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docker compose -p catmonitor-a2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  -f docker/docker-compose.yml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  -f docker/docker-compose.npu.yml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  -f docker/docker-compose.stress.yml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  -f "$G/docker-compose.stress.generated.yml"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  --profile stress-cpu --profile stress-npu "$@"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config --services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up -d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exec -T catmonitor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catmonitor stress doctor -o table</a:t>
            </a:r>
          </a:p>
        </p:txBody>
      </p:sp>
      <p:sp>
        <p:nvSpPr>
          <p:cNvPr id="9" name="compose-services">
            <a:extLst xmlns:a="http://schemas.openxmlformats.org/drawingml/2006/main">
              <a:ext uri="{FF2B5EF4-FFF2-40B4-BE49-F238E27FC236}">
                <a16:creationId xmlns:a16="http://schemas.microsoft.com/office/drawing/2014/main" id="{A81DAD25-9300-4CD9-AC50-DEA73D96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172200"/>
            <a:ext cx="6534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catmonitor、web、dfee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catmonitor-stress-cpu、catmonitor-stress-npu</a:t>
            </a:r>
          </a:p>
        </p:txBody>
      </p:sp>
      <p:sp>
        <p:nvSpPr>
          <p:cNvPr id="10" name="overlay-note">
            <a:extLst xmlns:a="http://schemas.openxmlformats.org/drawingml/2006/main">
              <a:ext uri="{FF2B5EF4-FFF2-40B4-BE49-F238E27FC236}">
                <a16:creationId xmlns:a16="http://schemas.microsoft.com/office/drawing/2014/main" id="{F7216EE3-CD57-49F4-A278-5624FEEE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981825"/>
            <a:ext cx="6534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generated 是 overlay，不能单独启动。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缺少 --profile 时不会启用对应压测服务。</a:t>
            </a:r>
          </a:p>
        </p:txBody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DC5CB082-E467-4B18-B8B4-FC093E38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48625"/>
            <a:ext cx="1333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完整预检、目录、CANN 路径与命令见本页备注。只启用 NPU：省略 CPU image 参数与 stress-cpu profile。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F58CC92C-54DD-44D3-81BA-AD3226C2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819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728106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">
            <a:extLst xmlns:a="http://schemas.openxmlformats.org/drawingml/2006/main">
              <a:ext uri="{FF2B5EF4-FFF2-40B4-BE49-F238E27FC236}">
                <a16:creationId xmlns:a16="http://schemas.microsoft.com/office/drawing/2014/main" id="{5348A393-F153-4A40-B178-0CA5F218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参数调整：部署授权与本次作业分开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45C5CE-B27E-418D-9CEA-0CAAA8E44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390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管理员修改生成器输入；用户在 Web / CLI 为单个 Job 选择设备、算子或模型。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2E0C02-CA4D-4B7F-B2B7-779006978677}"/>
              </a:ext>
            </a:extLst>
          </p:cNvPr>
          <p:cNvGraphicFramePr/>
          <p:nvPr/>
        </p:nvGraphicFramePr>
        <p:xfrm>
          <a:off xmlns:a="http://schemas.openxmlformats.org/drawingml/2006/main" x="609600" y="1704975"/>
          <a:ext xmlns:a="http://schemas.openxmlformats.org/drawingml/2006/main" cx="14020800" cy="4343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6896100"/>
                <a:gridCol w="4857750"/>
              </a:tblGrid>
              <a:tr h="45720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调整对象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明确参数 / 示例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455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生效方式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T w="5715">
                      <a:solidFill>
                        <a:srgbClr val="CBD5E1"/>
                      </a:solidFill>
                      <a:prstDash val="solid"/>
                    </a:lnT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E7EDF8"/>
                    </a:solidFill>
                  </a:tcPr>
                </a:tc>
              </a:tr>
              <a:tr h="1057275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设备与模型权限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--npu-burn-device 0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--npu-allowed-devices 0,1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--npu-allowed-models gpt3,llama2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重新生成配置并更新 Controller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默认选卡 ≠ 授权范围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345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 规模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--hpl-profile small --hpl-processes 1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--hpl-threads 1；--hpcg-runtime 60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重建 CPU 容器，不重编镜像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HPL 必须 P × Q = MPI ranks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57275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Tensor / 模型参数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--npu-config-dir /opt/catmonitor/npu-config/a2-v1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JSON 配置目录，只读挂载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空闲时更新 NPU 容器并重做预检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参数改变后核对 / 重建匹配参考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本次作业</a:t>
                      </a:r>
                    </a:p>
                  </a:txBody>
                  <a:tcPr marL="91440" marR="91440" marT="45720" marB="45720">
                    <a:lnL w="5715">
                      <a:solidFill>
                        <a:srgbClr val="CBD5E1"/>
                      </a:solidFill>
                      <a:prstDash val="solid"/>
                    </a:lnL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--npu-devices 0,1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--npu-cases matmul,conv2d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33350" tIns="114300" rIns="13335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只作用于本次 Job</a:t>
                      </a:r>
                    </a:p>
                    <a:p>
                      <a:r>
                        <a:rPr sz="1800" b="0">
                          <a:solidFill>
                            <a:srgbClr val="10244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不修改共享 YAML 或容器默认值</a:t>
                      </a:r>
                    </a:p>
                  </a:txBody>
                  <a:tcPr marL="91440" marR="91440" marT="45720" marB="45720">
                    <a:lnR w="5715">
                      <a:solidFill>
                        <a:srgbClr val="CBD5E1"/>
                      </a:solidFill>
                      <a:prstDash val="solid"/>
                    </a:lnR>
                    <a:lnB w="5715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job-label">
            <a:extLst xmlns:a="http://schemas.openxmlformats.org/drawingml/2006/main">
              <a:ext uri="{FF2B5EF4-FFF2-40B4-BE49-F238E27FC236}">
                <a16:creationId xmlns:a16="http://schemas.microsoft.com/office/drawing/2014/main" id="{C011E488-C393-430A-AF41-1E68C483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单次算子作业</a:t>
            </a:r>
          </a:p>
        </p:txBody>
      </p:sp>
      <p:sp>
        <p:nvSpPr>
          <p:cNvPr id="5" name="job-command">
            <a:extLst xmlns:a="http://schemas.openxmlformats.org/drawingml/2006/main">
              <a:ext uri="{FF2B5EF4-FFF2-40B4-BE49-F238E27FC236}">
                <a16:creationId xmlns:a16="http://schemas.microsoft.com/office/drawing/2014/main" id="{5FE8D436-BC8B-4E05-A21E-FA1B7606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91325"/>
            <a:ext cx="69532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exec -T catmonitor catmonitor stress run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--bench npu_burn --npu-devices 0,1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--npu-cases matmul,conv2d -o table</a:t>
            </a:r>
          </a:p>
        </p:txBody>
      </p:sp>
      <p:sp>
        <p:nvSpPr>
          <p:cNvPr id="6" name="update-label">
            <a:extLst xmlns:a="http://schemas.openxmlformats.org/drawingml/2006/main">
              <a:ext uri="{FF2B5EF4-FFF2-40B4-BE49-F238E27FC236}">
                <a16:creationId xmlns:a16="http://schemas.microsoft.com/office/drawing/2014/main" id="{70256A09-3194-4BD5-BF55-14E97CD2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305550"/>
            <a:ext cx="6429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配置更新与取消</a:t>
            </a:r>
          </a:p>
        </p:txBody>
      </p:sp>
      <p:sp>
        <p:nvSpPr>
          <p:cNvPr id="7" name="update-command">
            <a:extLst xmlns:a="http://schemas.openxmlformats.org/drawingml/2006/main">
              <a:ext uri="{FF2B5EF4-FFF2-40B4-BE49-F238E27FC236}">
                <a16:creationId xmlns:a16="http://schemas.microsoft.com/office/drawing/2014/main" id="{01385D51-03B5-4903-96E5-8F6C3B7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6791325"/>
            <a:ext cx="6477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up -d --no-deps --force-recreate \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  catmonitor catmonitor-stress-cpu catmonitor-stress-npu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102442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102442"/>
                </a:solidFill>
                <a:latin typeface="Consolas"/>
                <a:ea typeface="Consolas"/>
                <a:cs typeface="Consolas"/>
              </a:rPr>
              <a:t>dc exec -T catmonitor catmonitor stress cancel --job ID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7E3B6D6-B550-4609-9A48-8B695DBD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48625"/>
            <a:ext cx="1333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只更新参数发生变化的服务，先确认无活动 Job。不要仅 restart 或临时 docker exec -e。完整变更步骤在备注。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CB03614A-8322-40B6-BD05-FF2E6DEC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819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906124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">
            <a:extLst xmlns:a="http://schemas.openxmlformats.org/drawingml/2006/main">
              <a:ext uri="{FF2B5EF4-FFF2-40B4-BE49-F238E27FC236}">
                <a16:creationId xmlns:a16="http://schemas.microsoft.com/office/drawing/2014/main" id="{8870AB63-13E7-4117-8B88-B755B7C0A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Web 操作与真实 A2 报告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CF36A6A-1692-4FA4-A94A-41B27616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390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访问 http://节点IP:19322/stress/。本页为开源 A2 页面中的历史结果，截图日期 2026-10-14。</a:t>
            </a:r>
          </a:p>
        </p:txBody>
      </p:sp>
      <p:sp>
        <p:nvSpPr>
          <p:cNvPr id="3" name="operator-title">
            <a:extLst xmlns:a="http://schemas.openxmlformats.org/drawingml/2006/main">
              <a:ext uri="{FF2B5EF4-FFF2-40B4-BE49-F238E27FC236}">
                <a16:creationId xmlns:a16="http://schemas.microsoft.com/office/drawing/2014/main" id="{B0B4123C-CCF5-44DB-8B19-527EDF060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68484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算子压测：matmul，逻辑设备 0、1</a:t>
            </a:r>
          </a:p>
        </p:txBody>
      </p:sp>
      <p:sp>
        <p:nvSpPr>
          <p:cNvPr id="4" name="sdc-title">
            <a:extLst xmlns:a="http://schemas.openxmlformats.org/drawingml/2006/main">
              <a:ext uri="{FF2B5EF4-FFF2-40B4-BE49-F238E27FC236}">
                <a16:creationId xmlns:a16="http://schemas.microsoft.com/office/drawing/2014/main" id="{17377E21-3F35-4C3C-8BDE-99612797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24025"/>
            <a:ext cx="662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模型 SDC：Llama2，匹配参考对照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52A28-83DD-4618-ADC0-8C5B3EE283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f1a07c0f94008"/>
          <a:stretch xmlns:a="http://schemas.openxmlformats.org/drawingml/2006/main"/>
        </p:blipFill>
        <p:spPr>
          <a:xfrm xmlns:a="http://schemas.openxmlformats.org/drawingml/2006/main">
            <a:off x="609600" y="2277472"/>
            <a:ext cx="6838950" cy="4055656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92EA2-2515-4A19-B3AC-374A3D220F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523cca11a434c"/>
          <a:stretch xmlns:a="http://schemas.openxmlformats.org/drawingml/2006/main"/>
        </p:blipFill>
        <p:spPr>
          <a:xfrm xmlns:a="http://schemas.openxmlformats.org/drawingml/2006/main">
            <a:off x="8001000" y="2279465"/>
            <a:ext cx="6629400" cy="3623044"/>
          </a:xfrm>
          <a:prstGeom xmlns:a="http://schemas.openxmlformats.org/drawingml/2006/main" prst="rect">
            <a:avLst/>
          </a:prstGeom>
        </p:spPr>
      </p:pic>
      <p:sp>
        <p:nvSpPr>
          <p:cNvPr id="7" name="operator-explainer">
            <a:extLst xmlns:a="http://schemas.openxmlformats.org/drawingml/2006/main">
              <a:ext uri="{FF2B5EF4-FFF2-40B4-BE49-F238E27FC236}">
                <a16:creationId xmlns:a16="http://schemas.microsoft.com/office/drawing/2014/main" id="{07754953-2258-4950-832A-9A5341A6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8389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420/420 是 CSV 记录数：每卡 210 条。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检测错误 0，作业总耗时 1.99 分钟。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选择区决定本次请求，历史报告说明实际结果。</a:t>
            </a:r>
          </a:p>
        </p:txBody>
      </p:sp>
      <p:sp>
        <p:nvSpPr>
          <p:cNvPr id="8" name="sdc-explainer">
            <a:extLst xmlns:a="http://schemas.openxmlformats.org/drawingml/2006/main">
              <a:ext uri="{FF2B5EF4-FFF2-40B4-BE49-F238E27FC236}">
                <a16:creationId xmlns:a16="http://schemas.microsoft.com/office/drawing/2014/main" id="{9ECC0D65-634E-426C-A981-BF4AC82D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286500"/>
            <a:ext cx="662940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compare 比较步数 72，检测错误 0。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保存步数 0 是对照任务的正常表现。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02442"/>
                </a:solidFill>
                <a:latin typeface="Microsoft YaHei"/>
                <a:ea typeface="Microsoft YaHei"/>
                <a:cs typeface="Microsoft YaHei"/>
              </a:rPr>
              <a:t>首次：单卡生成参考，再切回 SDC 对照。</a:t>
            </a:r>
          </a:p>
        </p:txBody>
      </p:sp>
      <p:sp>
        <p:nvSpPr>
          <p:cNvPr id="9" name="sdc-warning">
            <a:extLst xmlns:a="http://schemas.openxmlformats.org/drawingml/2006/main">
              <a:ext uri="{FF2B5EF4-FFF2-40B4-BE49-F238E27FC236}">
                <a16:creationId xmlns:a16="http://schemas.microsoft.com/office/drawing/2014/main" id="{7A3EEE4E-3441-4CE8-9428-6052E3E8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572375"/>
            <a:ext cx="662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1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996313"/>
                </a:solidFill>
                <a:latin typeface="Microsoft YaHei"/>
                <a:ea typeface="Microsoft YaHei"/>
                <a:cs typeface="Microsoft YaHei"/>
              </a:rPr>
              <a:t>生成参考成功 ≠ SDC 检测通过</a:t>
            </a:r>
          </a:p>
        </p:txBody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601CA799-B5EB-48D6-80B5-B3767520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48625"/>
            <a:ext cx="1333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2627A"/>
                </a:solidFill>
                <a:latin typeface="Microsoft YaHei"/>
                <a:ea typeface="Microsoft YaHei"/>
                <a:cs typeface="Microsoft YaHei"/>
              </a:rPr>
              <a:t>作业日期 2026-10-13；历史结果仅对当时的镜像、参数和参考有效。启用 Run/Cancel 的 Web 只对可信网络开放。</a:t>
            </a:r>
          </a:p>
        </p:txBody>
      </p:sp>
      <p:sp>
        <p:nvSpPr>
          <p:cNvPr id="11" name="page">
            <a:extLst xmlns:a="http://schemas.openxmlformats.org/drawingml/2006/main">
              <a:ext uri="{FF2B5EF4-FFF2-40B4-BE49-F238E27FC236}">
                <a16:creationId xmlns:a16="http://schemas.microsoft.com/office/drawing/2014/main" id="{95D7A8E5-486B-4FE6-B269-8F824528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79819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455C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100240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2026-10-14T04:57:21.4530000Z</dcterms:created>
  <dcterms:modified xsi:type="dcterms:W3CDTF">2026-10-14T04:57:21.4530000Z</dcterms:modified>
</coreProperties>
</file>